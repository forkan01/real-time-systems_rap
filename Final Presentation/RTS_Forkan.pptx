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256" r:id="rId2"/>
    <p:sldId id="257" r:id="rId3"/>
    <p:sldId id="273" r:id="rId4"/>
    <p:sldId id="268" r:id="rId5"/>
    <p:sldId id="260" r:id="rId6"/>
    <p:sldId id="269" r:id="rId7"/>
    <p:sldId id="275" r:id="rId8"/>
    <p:sldId id="262" r:id="rId9"/>
    <p:sldId id="274" r:id="rId10"/>
    <p:sldId id="266" r:id="rId11"/>
  </p:sldIdLst>
  <p:sldSz cx="12192000" cy="6858000"/>
  <p:notesSz cx="9144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B501"/>
    <a:srgbClr val="00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3" d="100"/>
          <a:sy n="73" d="100"/>
        </p:scale>
        <p:origin x="380" y="36"/>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36CE05-C1E2-B4A2-EDFB-B51A161E4D77}"/>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LID4096"/>
          </a:p>
        </p:txBody>
      </p:sp>
      <p:sp>
        <p:nvSpPr>
          <p:cNvPr id="3" name="Date Placeholder 2">
            <a:extLst>
              <a:ext uri="{FF2B5EF4-FFF2-40B4-BE49-F238E27FC236}">
                <a16:creationId xmlns:a16="http://schemas.microsoft.com/office/drawing/2014/main" id="{B41DD234-EA89-5F90-D0F7-23B248ABA308}"/>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662E7BA7-4251-41C1-AC94-0A7BC723FB94}" type="datetime1">
              <a:rPr lang="en-GB" smtClean="0"/>
              <a:t>21/07/2024</a:t>
            </a:fld>
            <a:endParaRPr lang="LID4096"/>
          </a:p>
        </p:txBody>
      </p:sp>
      <p:sp>
        <p:nvSpPr>
          <p:cNvPr id="4" name="Footer Placeholder 3">
            <a:extLst>
              <a:ext uri="{FF2B5EF4-FFF2-40B4-BE49-F238E27FC236}">
                <a16:creationId xmlns:a16="http://schemas.microsoft.com/office/drawing/2014/main" id="{02A500D0-C763-C97F-C56F-815135012F45}"/>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LID4096"/>
          </a:p>
        </p:txBody>
      </p:sp>
      <p:sp>
        <p:nvSpPr>
          <p:cNvPr id="5" name="Slide Number Placeholder 4">
            <a:extLst>
              <a:ext uri="{FF2B5EF4-FFF2-40B4-BE49-F238E27FC236}">
                <a16:creationId xmlns:a16="http://schemas.microsoft.com/office/drawing/2014/main" id="{DB5E1A83-817D-2B49-0079-6DC8CD3710C5}"/>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459EED78-E130-4E03-BA37-C5C68BB7A009}" type="slidenum">
              <a:rPr lang="LID4096" smtClean="0"/>
              <a:t>‹#›</a:t>
            </a:fld>
            <a:endParaRPr lang="LID4096"/>
          </a:p>
        </p:txBody>
      </p:sp>
    </p:spTree>
    <p:extLst>
      <p:ext uri="{BB962C8B-B14F-4D97-AF65-F5344CB8AC3E}">
        <p14:creationId xmlns:p14="http://schemas.microsoft.com/office/powerpoint/2010/main" val="1405348293"/>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EA98252-D6BD-4178-B3EA-244D6BCD89F9}" type="datetime1">
              <a:rPr lang="en-GB" smtClean="0"/>
              <a:t>21/07/2024</a:t>
            </a:fld>
            <a:endParaRPr lang="LID4096"/>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ECE14D5-1FE7-4BDE-8BCA-48A7CFAD3A38}" type="slidenum">
              <a:rPr lang="LID4096" smtClean="0"/>
              <a:t>‹#›</a:t>
            </a:fld>
            <a:endParaRPr lang="LID4096"/>
          </a:p>
        </p:txBody>
      </p:sp>
    </p:spTree>
    <p:extLst>
      <p:ext uri="{BB962C8B-B14F-4D97-AF65-F5344CB8AC3E}">
        <p14:creationId xmlns:p14="http://schemas.microsoft.com/office/powerpoint/2010/main" val="3967797526"/>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68888" y="1949196"/>
            <a:ext cx="6477000" cy="353943"/>
          </a:xfrm>
          <a:prstGeom prst="rect">
            <a:avLst/>
          </a:prstGeom>
        </p:spPr>
        <p:txBody>
          <a:bodyPr wrap="square" lIns="0" tIns="0" rIns="0" bIns="0">
            <a:spAutoFit/>
          </a:bodyPr>
          <a:lstStyle>
            <a:lvl1pPr>
              <a:defRPr sz="2300" b="1" i="0">
                <a:solidFill>
                  <a:srgbClr val="646464"/>
                </a:solidFill>
                <a:latin typeface="Arial"/>
                <a:cs typeface="Arial"/>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32DC9C2-8A6A-452B-A292-B804B318FF13}" type="datetime1">
              <a:rPr lang="en-GB" smtClean="0"/>
              <a:t>21/07/2024</a:t>
            </a:fld>
            <a:endParaRPr lang="en-US"/>
          </a:p>
        </p:txBody>
      </p:sp>
      <p:sp>
        <p:nvSpPr>
          <p:cNvPr id="6" name="Holder 6"/>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646464"/>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5967258-F7B0-4D44-BAB0-0B49DD408F40}" type="datetime1">
              <a:rPr lang="en-GB" smtClean="0"/>
              <a:t>21/07/2024</a:t>
            </a:fld>
            <a:endParaRPr lang="en-US"/>
          </a:p>
        </p:txBody>
      </p:sp>
      <p:sp>
        <p:nvSpPr>
          <p:cNvPr id="6" name="Holder 6"/>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646464"/>
                </a:solidFill>
                <a:latin typeface="Arial"/>
                <a:cs typeface="Arial"/>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8FCE4603-7427-49C0-BDD1-99D957E4D141}" type="datetime1">
              <a:rPr lang="en-GB" smtClean="0"/>
              <a:t>21/07/2024</a:t>
            </a:fld>
            <a:endParaRPr lang="en-US"/>
          </a:p>
        </p:txBody>
      </p:sp>
      <p:sp>
        <p:nvSpPr>
          <p:cNvPr id="7" name="Holder 7"/>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646464"/>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9386A28B-0255-4BAA-BE20-77D1630EB0C7}" type="datetime1">
              <a:rPr lang="en-GB" smtClean="0"/>
              <a:t>21/07/2024</a:t>
            </a:fld>
            <a:endParaRPr lang="en-US"/>
          </a:p>
        </p:txBody>
      </p:sp>
      <p:sp>
        <p:nvSpPr>
          <p:cNvPr id="5" name="Holder 5"/>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044F68B-3CD0-49AC-8CCD-45F620FCD0D5}" type="datetime1">
              <a:rPr lang="en-GB" smtClean="0"/>
              <a:t>21/07/2024</a:t>
            </a:fld>
            <a:endParaRPr lang="en-US"/>
          </a:p>
        </p:txBody>
      </p:sp>
      <p:sp>
        <p:nvSpPr>
          <p:cNvPr id="4" name="Holder 4"/>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597650"/>
            <a:ext cx="6096000" cy="260350"/>
          </a:xfrm>
          <a:custGeom>
            <a:avLst/>
            <a:gdLst/>
            <a:ahLst/>
            <a:cxnLst/>
            <a:rect l="l" t="t" r="r" b="b"/>
            <a:pathLst>
              <a:path w="4572000" h="260350">
                <a:moveTo>
                  <a:pt x="4572000" y="0"/>
                </a:moveTo>
                <a:lnTo>
                  <a:pt x="0" y="0"/>
                </a:lnTo>
                <a:lnTo>
                  <a:pt x="0" y="260349"/>
                </a:lnTo>
                <a:lnTo>
                  <a:pt x="4572000" y="260349"/>
                </a:lnTo>
                <a:lnTo>
                  <a:pt x="4572000" y="0"/>
                </a:lnTo>
                <a:close/>
              </a:path>
            </a:pathLst>
          </a:custGeom>
          <a:solidFill>
            <a:srgbClr val="2190FF"/>
          </a:solidFill>
        </p:spPr>
        <p:txBody>
          <a:bodyPr wrap="square" lIns="0" tIns="0" rIns="0" bIns="0" rtlCol="0"/>
          <a:lstStyle/>
          <a:p>
            <a:endParaRPr/>
          </a:p>
        </p:txBody>
      </p:sp>
      <p:sp>
        <p:nvSpPr>
          <p:cNvPr id="17" name="bg object 17"/>
          <p:cNvSpPr/>
          <p:nvPr/>
        </p:nvSpPr>
        <p:spPr>
          <a:xfrm>
            <a:off x="6096000" y="6597650"/>
            <a:ext cx="6096000" cy="260350"/>
          </a:xfrm>
          <a:custGeom>
            <a:avLst/>
            <a:gdLst/>
            <a:ahLst/>
            <a:cxnLst/>
            <a:rect l="l" t="t" r="r" b="b"/>
            <a:pathLst>
              <a:path w="4572000" h="260350">
                <a:moveTo>
                  <a:pt x="4572000" y="0"/>
                </a:moveTo>
                <a:lnTo>
                  <a:pt x="0" y="0"/>
                </a:lnTo>
                <a:lnTo>
                  <a:pt x="0" y="260349"/>
                </a:lnTo>
                <a:lnTo>
                  <a:pt x="4572000" y="260349"/>
                </a:lnTo>
                <a:lnTo>
                  <a:pt x="4572000" y="0"/>
                </a:lnTo>
                <a:close/>
              </a:path>
            </a:pathLst>
          </a:custGeom>
          <a:solidFill>
            <a:srgbClr val="6EAA23"/>
          </a:solidFill>
        </p:spPr>
        <p:txBody>
          <a:bodyPr wrap="square" lIns="0" tIns="0" rIns="0" bIns="0" rtlCol="0"/>
          <a:lstStyle/>
          <a:p>
            <a:endParaRPr/>
          </a:p>
        </p:txBody>
      </p:sp>
      <p:sp>
        <p:nvSpPr>
          <p:cNvPr id="18" name="bg object 18"/>
          <p:cNvSpPr/>
          <p:nvPr/>
        </p:nvSpPr>
        <p:spPr>
          <a:xfrm>
            <a:off x="0" y="796925"/>
            <a:ext cx="12192000" cy="0"/>
          </a:xfrm>
          <a:custGeom>
            <a:avLst/>
            <a:gdLst/>
            <a:ahLst/>
            <a:cxnLst/>
            <a:rect l="l" t="t" r="r" b="b"/>
            <a:pathLst>
              <a:path w="9144000">
                <a:moveTo>
                  <a:pt x="0" y="0"/>
                </a:moveTo>
                <a:lnTo>
                  <a:pt x="9144000" y="1"/>
                </a:lnTo>
              </a:path>
            </a:pathLst>
          </a:custGeom>
          <a:ln w="19050">
            <a:solidFill>
              <a:srgbClr val="000000"/>
            </a:solidFill>
          </a:ln>
        </p:spPr>
        <p:txBody>
          <a:bodyPr wrap="square" lIns="0" tIns="0" rIns="0" bIns="0" rtlCol="0"/>
          <a:lstStyle/>
          <a:p>
            <a:endParaRPr/>
          </a:p>
        </p:txBody>
      </p:sp>
      <p:sp>
        <p:nvSpPr>
          <p:cNvPr id="19" name="bg object 19"/>
          <p:cNvSpPr/>
          <p:nvPr/>
        </p:nvSpPr>
        <p:spPr>
          <a:xfrm>
            <a:off x="0" y="250825"/>
            <a:ext cx="143933" cy="107950"/>
          </a:xfrm>
          <a:custGeom>
            <a:avLst/>
            <a:gdLst/>
            <a:ahLst/>
            <a:cxnLst/>
            <a:rect l="l" t="t" r="r" b="b"/>
            <a:pathLst>
              <a:path w="107950" h="107950">
                <a:moveTo>
                  <a:pt x="0" y="0"/>
                </a:moveTo>
                <a:lnTo>
                  <a:pt x="0" y="107950"/>
                </a:lnTo>
                <a:lnTo>
                  <a:pt x="107950" y="53975"/>
                </a:lnTo>
                <a:lnTo>
                  <a:pt x="0" y="0"/>
                </a:lnTo>
                <a:close/>
              </a:path>
            </a:pathLst>
          </a:custGeom>
          <a:solidFill>
            <a:srgbClr val="646464"/>
          </a:solidFill>
        </p:spPr>
        <p:txBody>
          <a:bodyPr wrap="square" lIns="0" tIns="0" rIns="0" bIns="0" rtlCol="0"/>
          <a:lstStyle/>
          <a:p>
            <a:endParaRPr/>
          </a:p>
        </p:txBody>
      </p:sp>
      <p:pic>
        <p:nvPicPr>
          <p:cNvPr id="20" name="bg object 20"/>
          <p:cNvPicPr/>
          <p:nvPr/>
        </p:nvPicPr>
        <p:blipFill>
          <a:blip r:embed="rId7" cstate="print"/>
          <a:stretch>
            <a:fillRect/>
          </a:stretch>
        </p:blipFill>
        <p:spPr>
          <a:xfrm>
            <a:off x="11040549" y="116633"/>
            <a:ext cx="1104121" cy="636596"/>
          </a:xfrm>
          <a:prstGeom prst="rect">
            <a:avLst/>
          </a:prstGeom>
        </p:spPr>
      </p:pic>
      <p:sp>
        <p:nvSpPr>
          <p:cNvPr id="2" name="Holder 2"/>
          <p:cNvSpPr>
            <a:spLocks noGrp="1"/>
          </p:cNvSpPr>
          <p:nvPr>
            <p:ph type="title"/>
          </p:nvPr>
        </p:nvSpPr>
        <p:spPr>
          <a:xfrm>
            <a:off x="423750" y="173735"/>
            <a:ext cx="4576233" cy="353943"/>
          </a:xfrm>
          <a:prstGeom prst="rect">
            <a:avLst/>
          </a:prstGeom>
        </p:spPr>
        <p:txBody>
          <a:bodyPr wrap="square" lIns="0" tIns="0" rIns="0" bIns="0">
            <a:spAutoFit/>
          </a:bodyPr>
          <a:lstStyle>
            <a:lvl1pPr>
              <a:defRPr sz="2300" b="1" i="0">
                <a:solidFill>
                  <a:srgbClr val="646464"/>
                </a:solidFill>
                <a:latin typeface="Arial"/>
                <a:cs typeface="Arial"/>
              </a:defRPr>
            </a:lvl1pPr>
          </a:lstStyle>
          <a:p>
            <a:endParaRPr/>
          </a:p>
        </p:txBody>
      </p:sp>
      <p:sp>
        <p:nvSpPr>
          <p:cNvPr id="3" name="Holder 3"/>
          <p:cNvSpPr>
            <a:spLocks noGrp="1"/>
          </p:cNvSpPr>
          <p:nvPr>
            <p:ph type="body" idx="1"/>
          </p:nvPr>
        </p:nvSpPr>
        <p:spPr>
          <a:xfrm>
            <a:off x="894490" y="1297941"/>
            <a:ext cx="8804487"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226484" y="6657178"/>
            <a:ext cx="5610013" cy="153888"/>
          </a:xfrm>
          <a:prstGeom prst="rect">
            <a:avLst/>
          </a:prstGeom>
        </p:spPr>
        <p:txBody>
          <a:bodyPr wrap="square" lIns="0" tIns="0" rIns="0" bIns="0">
            <a:spAutoFit/>
          </a:bodyPr>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ADAF2B8C-1D63-4656-B774-6663DA43B29B}" type="datetime1">
              <a:rPr lang="en-GB" smtClean="0"/>
              <a:t>21/07/2024</a:t>
            </a:fld>
            <a:endParaRPr lang="en-US"/>
          </a:p>
        </p:txBody>
      </p:sp>
      <p:sp>
        <p:nvSpPr>
          <p:cNvPr id="6" name="Holder 6"/>
          <p:cNvSpPr>
            <a:spLocks noGrp="1"/>
          </p:cNvSpPr>
          <p:nvPr>
            <p:ph type="sldNum" sz="quarter" idx="7"/>
          </p:nvPr>
        </p:nvSpPr>
        <p:spPr>
          <a:xfrm>
            <a:off x="10755147" y="6654131"/>
            <a:ext cx="1215812" cy="153888"/>
          </a:xfrm>
          <a:prstGeom prst="rect">
            <a:avLst/>
          </a:prstGeom>
        </p:spPr>
        <p:txBody>
          <a:bodyPr wrap="square" lIns="0" tIns="0" rIns="0" bIns="0">
            <a:spAutoFit/>
          </a:bodyPr>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5B39C1DD-3439-D90D-71E3-CFDE31B906A3}"/>
              </a:ext>
            </a:extLst>
          </p:cNvPr>
          <p:cNvSpPr txBox="1"/>
          <p:nvPr/>
        </p:nvSpPr>
        <p:spPr>
          <a:xfrm>
            <a:off x="507031" y="1820109"/>
            <a:ext cx="6270347" cy="2123658"/>
          </a:xfrm>
          <a:prstGeom prst="rect">
            <a:avLst/>
          </a:prstGeom>
          <a:noFill/>
        </p:spPr>
        <p:txBody>
          <a:bodyPr wrap="square">
            <a:spAutoFit/>
          </a:bodyPr>
          <a:lstStyle/>
          <a:p>
            <a:r>
              <a:rPr lang="en-GB" sz="4400" dirty="0">
                <a:latin typeface="Impact" panose="020B0806030902050204" pitchFamily="34" charset="0"/>
              </a:rPr>
              <a:t>Resource Access Protocol In Autonomous Traffic Control System</a:t>
            </a:r>
            <a:endParaRPr lang="LID4096" sz="4400" dirty="0">
              <a:latin typeface="Impact" panose="020B0806030902050204" pitchFamily="34" charset="0"/>
            </a:endParaRPr>
          </a:p>
        </p:txBody>
      </p:sp>
      <p:sp>
        <p:nvSpPr>
          <p:cNvPr id="18" name="Footer Placeholder 17">
            <a:extLst>
              <a:ext uri="{FF2B5EF4-FFF2-40B4-BE49-F238E27FC236}">
                <a16:creationId xmlns:a16="http://schemas.microsoft.com/office/drawing/2014/main" id="{7DE5566E-82B6-E40F-F577-1B8475CB93D4}"/>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4" name="TextBox 3">
            <a:extLst>
              <a:ext uri="{FF2B5EF4-FFF2-40B4-BE49-F238E27FC236}">
                <a16:creationId xmlns:a16="http://schemas.microsoft.com/office/drawing/2014/main" id="{C1CD02C9-7E97-C4EF-70FE-2DA95C2E8C5F}"/>
              </a:ext>
            </a:extLst>
          </p:cNvPr>
          <p:cNvSpPr txBox="1"/>
          <p:nvPr/>
        </p:nvSpPr>
        <p:spPr>
          <a:xfrm>
            <a:off x="507031" y="4977307"/>
            <a:ext cx="3962400" cy="646331"/>
          </a:xfrm>
          <a:prstGeom prst="rect">
            <a:avLst/>
          </a:prstGeom>
          <a:noFill/>
        </p:spPr>
        <p:txBody>
          <a:bodyPr wrap="square" rtlCol="0">
            <a:spAutoFit/>
          </a:bodyPr>
          <a:lstStyle/>
          <a:p>
            <a:r>
              <a:rPr lang="en-GB" dirty="0"/>
              <a:t>Abdullah Al Forkan</a:t>
            </a:r>
          </a:p>
          <a:p>
            <a:r>
              <a:rPr lang="en-GB" dirty="0"/>
              <a:t>Matriculation Number: 2190314</a:t>
            </a:r>
            <a:endParaRPr lang="LID4096" dirty="0"/>
          </a:p>
        </p:txBody>
      </p:sp>
      <p:sp>
        <p:nvSpPr>
          <p:cNvPr id="9" name="Slide Number Placeholder 8">
            <a:extLst>
              <a:ext uri="{FF2B5EF4-FFF2-40B4-BE49-F238E27FC236}">
                <a16:creationId xmlns:a16="http://schemas.microsoft.com/office/drawing/2014/main" id="{67605282-6867-9883-E887-5539F361EFF6}"/>
              </a:ext>
            </a:extLst>
          </p:cNvPr>
          <p:cNvSpPr>
            <a:spLocks noGrp="1"/>
          </p:cNvSpPr>
          <p:nvPr>
            <p:ph type="sldNum" sz="quarter" idx="7"/>
          </p:nvPr>
        </p:nvSpPr>
        <p:spPr/>
        <p:txBody>
          <a:bodyPr/>
          <a:lstStyle/>
          <a:p>
            <a:pPr marL="12700">
              <a:spcBef>
                <a:spcPts val="30"/>
              </a:spcBef>
            </a:pPr>
            <a:r>
              <a:rPr lang="en-GB" dirty="0"/>
              <a:t>20</a:t>
            </a:r>
            <a:r>
              <a:rPr lang="en-DE" dirty="0"/>
              <a:t>.</a:t>
            </a:r>
            <a:r>
              <a:rPr lang="en-GB" dirty="0"/>
              <a:t>06</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1</a:t>
            </a:fld>
            <a:r>
              <a:rPr spc="-15" dirty="0"/>
              <a:t> </a:t>
            </a:r>
            <a:r>
              <a:rPr spc="-50" dirty="0"/>
              <a:t>&gt;</a:t>
            </a:r>
          </a:p>
        </p:txBody>
      </p:sp>
      <p:pic>
        <p:nvPicPr>
          <p:cNvPr id="3" name="Picture 2" descr="A crossroad with cars on it&#10;&#10;Description automatically generated">
            <a:extLst>
              <a:ext uri="{FF2B5EF4-FFF2-40B4-BE49-F238E27FC236}">
                <a16:creationId xmlns:a16="http://schemas.microsoft.com/office/drawing/2014/main" id="{400E9674-B444-0362-3F0C-7CD9397EC4CF}"/>
              </a:ext>
            </a:extLst>
          </p:cNvPr>
          <p:cNvPicPr>
            <a:picLocks noChangeAspect="1"/>
          </p:cNvPicPr>
          <p:nvPr/>
        </p:nvPicPr>
        <p:blipFill rotWithShape="1">
          <a:blip r:embed="rId2">
            <a:extLst>
              <a:ext uri="{28A0092B-C50C-407E-A947-70E740481C1C}">
                <a14:useLocalDpi xmlns:a14="http://schemas.microsoft.com/office/drawing/2010/main" val="0"/>
              </a:ext>
            </a:extLst>
          </a:blip>
          <a:srcRect l="5116" t="1598"/>
          <a:stretch/>
        </p:blipFill>
        <p:spPr>
          <a:xfrm>
            <a:off x="6858000" y="1504477"/>
            <a:ext cx="5232052" cy="44761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888" y="1071299"/>
            <a:ext cx="11285159" cy="1551707"/>
          </a:xfrm>
          <a:prstGeom prst="rect">
            <a:avLst/>
          </a:prstGeom>
        </p:spPr>
        <p:txBody>
          <a:bodyPr vert="horz" wrap="square" lIns="0" tIns="12700" rIns="0" bIns="0" rtlCol="0">
            <a:spAutoFit/>
          </a:bodyPr>
          <a:lstStyle/>
          <a:p>
            <a:pPr marL="12700">
              <a:spcBef>
                <a:spcPts val="100"/>
              </a:spcBef>
              <a:buClr>
                <a:srgbClr val="00197D"/>
              </a:buClr>
              <a:buSzPct val="72222"/>
              <a:tabLst>
                <a:tab pos="297815" algn="l"/>
              </a:tabLst>
            </a:pPr>
            <a:r>
              <a:rPr lang="en-GB" sz="2000" i="0" dirty="0">
                <a:solidFill>
                  <a:srgbClr val="000000"/>
                </a:solidFill>
                <a:effectLst/>
                <a:latin typeface="Arial" panose="020B0604020202020204" pitchFamily="34" charset="0"/>
                <a:ea typeface="Fira Code" panose="020B0809050000020004" pitchFamily="49" charset="0"/>
                <a:cs typeface="Arial" panose="020B0604020202020204" pitchFamily="34" charset="0"/>
              </a:rPr>
              <a:t>We are </a:t>
            </a:r>
            <a:r>
              <a:rPr lang="en-GB" sz="2000" dirty="0">
                <a:solidFill>
                  <a:srgbClr val="000000"/>
                </a:solidFill>
                <a:latin typeface="Arial" panose="020B0604020202020204" pitchFamily="34" charset="0"/>
                <a:ea typeface="Fira Code" panose="020B0809050000020004" pitchFamily="49" charset="0"/>
                <a:cs typeface="Arial" panose="020B0604020202020204" pitchFamily="34" charset="0"/>
              </a:rPr>
              <a:t>living in a world now, where data is everything and all processes of system shares the same data to maintain connectivity. </a:t>
            </a:r>
            <a:r>
              <a:rPr lang="en-GB" sz="2000" i="0" dirty="0">
                <a:solidFill>
                  <a:srgbClr val="000000"/>
                </a:solidFill>
                <a:effectLst/>
                <a:latin typeface="Arial" panose="020B0604020202020204" pitchFamily="34" charset="0"/>
                <a:ea typeface="Fira Code" panose="020B0809050000020004" pitchFamily="49" charset="0"/>
                <a:cs typeface="Arial" panose="020B0604020202020204" pitchFamily="34" charset="0"/>
              </a:rPr>
              <a:t>The initial inspiration came while I was trying to solve the priority queue for a autonomous traffic control system. </a:t>
            </a:r>
            <a:r>
              <a:rPr lang="en-GB" sz="2000" dirty="0">
                <a:solidFill>
                  <a:srgbClr val="000000"/>
                </a:solidFill>
                <a:latin typeface="Arial" panose="020B0604020202020204" pitchFamily="34" charset="0"/>
                <a:ea typeface="Fira Code" panose="020B0809050000020004" pitchFamily="49" charset="0"/>
                <a:cs typeface="Arial" panose="020B0604020202020204" pitchFamily="34" charset="0"/>
              </a:rPr>
              <a:t>The problem was to setting the priority for each cars in the queue in the main shared resource. Similar problem can also be observed in Mars path finder incident happened in </a:t>
            </a:r>
            <a:r>
              <a:rPr lang="en-DE" sz="1800" dirty="0">
                <a:solidFill>
                  <a:srgbClr val="000000"/>
                </a:solidFill>
                <a:effectLst/>
                <a:latin typeface="Calibri" panose="020F0502020204030204" pitchFamily="34" charset="0"/>
              </a:rPr>
              <a:t>1997</a:t>
            </a:r>
            <a:r>
              <a:rPr lang="en-GB" sz="2000" dirty="0">
                <a:solidFill>
                  <a:srgbClr val="000000"/>
                </a:solidFill>
                <a:latin typeface="Arial" panose="020B0604020202020204" pitchFamily="34" charset="0"/>
                <a:ea typeface="Fira Code" panose="020B0809050000020004" pitchFamily="49" charset="0"/>
                <a:cs typeface="Arial" panose="020B0604020202020204" pitchFamily="34" charset="0"/>
              </a:rPr>
              <a:t>. </a:t>
            </a:r>
            <a:endParaRPr lang="en-GB" sz="2000" i="0" dirty="0">
              <a:solidFill>
                <a:srgbClr val="000000"/>
              </a:solidFill>
              <a:effectLst/>
              <a:latin typeface="Arial" panose="020B0604020202020204" pitchFamily="34" charset="0"/>
              <a:ea typeface="Fira Code" panose="020B0809050000020004" pitchFamily="49" charset="0"/>
              <a:cs typeface="Arial" panose="020B0604020202020204" pitchFamily="34" charset="0"/>
            </a:endParaRPr>
          </a:p>
        </p:txBody>
      </p:sp>
      <p:sp>
        <p:nvSpPr>
          <p:cNvPr id="3" name="object 3"/>
          <p:cNvSpPr txBox="1">
            <a:spLocks noGrp="1"/>
          </p:cNvSpPr>
          <p:nvPr>
            <p:ph type="title"/>
          </p:nvPr>
        </p:nvSpPr>
        <p:spPr>
          <a:xfrm>
            <a:off x="1841812" y="173735"/>
            <a:ext cx="2349188" cy="366767"/>
          </a:xfrm>
          <a:prstGeom prst="rect">
            <a:avLst/>
          </a:prstGeom>
        </p:spPr>
        <p:txBody>
          <a:bodyPr vert="horz" wrap="square" lIns="0" tIns="12700" rIns="0" bIns="0" rtlCol="0">
            <a:spAutoFit/>
          </a:bodyPr>
          <a:lstStyle/>
          <a:p>
            <a:pPr marL="12700">
              <a:spcBef>
                <a:spcPts val="100"/>
              </a:spcBef>
            </a:pPr>
            <a:r>
              <a:rPr lang="en-GB" spc="-10" dirty="0"/>
              <a:t>Motivation</a:t>
            </a:r>
            <a:endParaRPr spc="-20" dirty="0"/>
          </a:p>
        </p:txBody>
      </p:sp>
      <p:sp>
        <p:nvSpPr>
          <p:cNvPr id="7" name="Footer Placeholder 6">
            <a:extLst>
              <a:ext uri="{FF2B5EF4-FFF2-40B4-BE49-F238E27FC236}">
                <a16:creationId xmlns:a16="http://schemas.microsoft.com/office/drawing/2014/main" id="{F305AB59-3863-578F-FEF0-F77875115986}"/>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ECD8D602-C9A0-F3D1-888E-2680B2C609C5}"/>
              </a:ext>
            </a:extLst>
          </p:cNvPr>
          <p:cNvSpPr>
            <a:spLocks noGrp="1"/>
          </p:cNvSpPr>
          <p:nvPr>
            <p:ph type="sldNum" sz="quarter" idx="7"/>
          </p:nvPr>
        </p:nvSpPr>
        <p:spPr/>
        <p:txBody>
          <a:bodyPr/>
          <a:lstStyle/>
          <a:p>
            <a:pPr marL="12700">
              <a:spcBef>
                <a:spcPts val="30"/>
              </a:spcBef>
            </a:pPr>
            <a:r>
              <a:rPr lang="en-GB" dirty="0"/>
              <a:t>20</a:t>
            </a:r>
            <a:r>
              <a:rPr lang="en-DE" dirty="0"/>
              <a:t>.</a:t>
            </a:r>
            <a:r>
              <a:rPr lang="en-GB" dirty="0"/>
              <a:t>06</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2</a:t>
            </a:fld>
            <a:r>
              <a:rPr spc="-15" dirty="0"/>
              <a:t> </a:t>
            </a:r>
            <a:r>
              <a:rPr spc="-50" dirty="0"/>
              <a:t>&gt;</a:t>
            </a:r>
          </a:p>
        </p:txBody>
      </p:sp>
      <p:sp>
        <p:nvSpPr>
          <p:cNvPr id="17" name="Google Shape;655;p34">
            <a:extLst>
              <a:ext uri="{FF2B5EF4-FFF2-40B4-BE49-F238E27FC236}">
                <a16:creationId xmlns:a16="http://schemas.microsoft.com/office/drawing/2014/main" id="{195B89C1-B6A8-9D3D-C4CC-8D3B5AF8AE97}"/>
              </a:ext>
            </a:extLst>
          </p:cNvPr>
          <p:cNvSpPr/>
          <p:nvPr/>
        </p:nvSpPr>
        <p:spPr>
          <a:xfrm>
            <a:off x="193888" y="7315200"/>
            <a:ext cx="154000" cy="154000"/>
          </a:xfrm>
          <a:prstGeom prst="ellipse">
            <a:avLst/>
          </a:prstGeom>
          <a:noFill/>
          <a:ln>
            <a:noFill/>
          </a:ln>
        </p:spPr>
        <p:txBody>
          <a:bodyPr spcFirstLastPara="1" wrap="square" lIns="121900" tIns="121900" rIns="121900" bIns="121900" anchor="ctr" anchorCtr="0">
            <a:noAutofit/>
          </a:bodyPr>
          <a:lstStyle/>
          <a:p>
            <a:pPr algn="l" defTabSz="1219170" rtl="0">
              <a:buClr>
                <a:srgbClr val="000000"/>
              </a:buClr>
            </a:pPr>
            <a:endParaRPr sz="1867">
              <a:solidFill>
                <a:srgbClr val="000000"/>
              </a:solidFill>
              <a:latin typeface="Arial"/>
              <a:ea typeface="+mn-ea"/>
              <a:cs typeface="Arial"/>
              <a:sym typeface="Arial"/>
            </a:endParaRPr>
          </a:p>
        </p:txBody>
      </p:sp>
      <p:pic>
        <p:nvPicPr>
          <p:cNvPr id="5" name="Picture 4" descr="A space rover on the mars&#10;&#10;Description automatically generated">
            <a:extLst>
              <a:ext uri="{FF2B5EF4-FFF2-40B4-BE49-F238E27FC236}">
                <a16:creationId xmlns:a16="http://schemas.microsoft.com/office/drawing/2014/main" id="{752A7C27-3272-2C08-4589-6410C44BD25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231" t="11745" r="4615" b="4363"/>
          <a:stretch/>
        </p:blipFill>
        <p:spPr>
          <a:xfrm>
            <a:off x="7162800" y="3124200"/>
            <a:ext cx="3657600" cy="3265714"/>
          </a:xfrm>
          <a:prstGeom prst="rect">
            <a:avLst/>
          </a:prstGeom>
        </p:spPr>
      </p:pic>
      <p:pic>
        <p:nvPicPr>
          <p:cNvPr id="6" name="Picture 5" descr="A crossroad with cars on it&#10;&#10;Description automatically generated">
            <a:extLst>
              <a:ext uri="{FF2B5EF4-FFF2-40B4-BE49-F238E27FC236}">
                <a16:creationId xmlns:a16="http://schemas.microsoft.com/office/drawing/2014/main" id="{F47C1035-738F-DF03-36C1-1DF6C32D22C7}"/>
              </a:ext>
            </a:extLst>
          </p:cNvPr>
          <p:cNvPicPr>
            <a:picLocks noChangeAspect="1"/>
          </p:cNvPicPr>
          <p:nvPr/>
        </p:nvPicPr>
        <p:blipFill rotWithShape="1">
          <a:blip r:embed="rId3">
            <a:extLst>
              <a:ext uri="{28A0092B-C50C-407E-A947-70E740481C1C}">
                <a14:useLocalDpi xmlns:a14="http://schemas.microsoft.com/office/drawing/2010/main" val="0"/>
              </a:ext>
            </a:extLst>
          </a:blip>
          <a:srcRect l="5116" t="1598"/>
          <a:stretch/>
        </p:blipFill>
        <p:spPr>
          <a:xfrm>
            <a:off x="914400" y="2970311"/>
            <a:ext cx="4041638" cy="345770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22EAE-A6FC-AAFB-C516-DF8CDA50A8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E46575-782C-7921-07B0-043C0226D14A}"/>
              </a:ext>
            </a:extLst>
          </p:cNvPr>
          <p:cNvSpPr txBox="1"/>
          <p:nvPr/>
        </p:nvSpPr>
        <p:spPr>
          <a:xfrm>
            <a:off x="508553" y="1371600"/>
            <a:ext cx="3583516" cy="3103414"/>
          </a:xfrm>
          <a:prstGeom prst="rect">
            <a:avLst/>
          </a:prstGeom>
        </p:spPr>
        <p:txBody>
          <a:bodyPr vert="horz" wrap="square" lIns="0" tIns="12700" rIns="0" bIns="0" rtlCol="0">
            <a:spAutoFit/>
          </a:bodyPr>
          <a:lstStyle/>
          <a:p>
            <a:pPr>
              <a:spcBef>
                <a:spcPts val="665"/>
              </a:spcBef>
              <a:buClr>
                <a:srgbClr val="00197D"/>
              </a:buClr>
            </a:pPr>
            <a:r>
              <a:rPr lang="en-GB" sz="2000" b="1" dirty="0">
                <a:solidFill>
                  <a:schemeClr val="tx1"/>
                </a:solidFill>
                <a:latin typeface="Arial" panose="020B0604020202020204" pitchFamily="34" charset="0"/>
                <a:ea typeface="Fira Code" panose="020B0809050000020004" pitchFamily="49" charset="0"/>
                <a:cs typeface="Arial" panose="020B0604020202020204" pitchFamily="34" charset="0"/>
              </a:rPr>
              <a:t>Shared Resources:</a:t>
            </a:r>
          </a:p>
          <a:p>
            <a:pPr marL="342900" indent="-342900">
              <a:spcBef>
                <a:spcPts val="665"/>
              </a:spcBef>
              <a:buClr>
                <a:srgbClr val="00197D"/>
              </a:buClr>
              <a:buFont typeface="Arial" panose="020B0604020202020204" pitchFamily="34" charset="0"/>
              <a:buChar char="•"/>
            </a:pPr>
            <a:r>
              <a:rPr lang="en-GB" sz="2000" dirty="0">
                <a:solidFill>
                  <a:schemeClr val="tx1"/>
                </a:solidFill>
                <a:latin typeface="Arial" panose="020B0604020202020204" pitchFamily="34" charset="0"/>
                <a:ea typeface="Fira Code" panose="020B0809050000020004" pitchFamily="49" charset="0"/>
                <a:cs typeface="Arial" panose="020B0604020202020204" pitchFamily="34" charset="0"/>
              </a:rPr>
              <a:t>Data structures,</a:t>
            </a:r>
          </a:p>
          <a:p>
            <a:pPr marL="342900" indent="-342900">
              <a:spcBef>
                <a:spcPts val="665"/>
              </a:spcBef>
              <a:buClr>
                <a:srgbClr val="00197D"/>
              </a:buClr>
              <a:buFont typeface="Arial" panose="020B0604020202020204" pitchFamily="34" charset="0"/>
              <a:buChar char="•"/>
            </a:pPr>
            <a:r>
              <a:rPr lang="en-GB" sz="2000" dirty="0">
                <a:solidFill>
                  <a:schemeClr val="tx1"/>
                </a:solidFill>
                <a:latin typeface="Arial" panose="020B0604020202020204" pitchFamily="34" charset="0"/>
                <a:ea typeface="Fira Code" panose="020B0809050000020004" pitchFamily="49" charset="0"/>
                <a:cs typeface="Arial" panose="020B0604020202020204" pitchFamily="34" charset="0"/>
              </a:rPr>
              <a:t>variables,</a:t>
            </a:r>
          </a:p>
          <a:p>
            <a:pPr marL="342900" indent="-342900">
              <a:spcBef>
                <a:spcPts val="665"/>
              </a:spcBef>
              <a:buClr>
                <a:srgbClr val="00197D"/>
              </a:buClr>
              <a:buFont typeface="Arial" panose="020B0604020202020204" pitchFamily="34" charset="0"/>
              <a:buChar char="•"/>
            </a:pPr>
            <a:r>
              <a:rPr lang="en-GB" sz="2000" dirty="0">
                <a:solidFill>
                  <a:schemeClr val="tx1"/>
                </a:solidFill>
                <a:latin typeface="Arial" panose="020B0604020202020204" pitchFamily="34" charset="0"/>
                <a:ea typeface="Fira Code" panose="020B0809050000020004" pitchFamily="49" charset="0"/>
                <a:cs typeface="Arial" panose="020B0604020202020204" pitchFamily="34" charset="0"/>
              </a:rPr>
              <a:t>main memory area,</a:t>
            </a:r>
          </a:p>
          <a:p>
            <a:pPr marL="342900" indent="-342900">
              <a:spcBef>
                <a:spcPts val="665"/>
              </a:spcBef>
              <a:buClr>
                <a:srgbClr val="00197D"/>
              </a:buClr>
              <a:buFont typeface="Arial" panose="020B0604020202020204" pitchFamily="34" charset="0"/>
              <a:buChar char="•"/>
            </a:pPr>
            <a:r>
              <a:rPr lang="en-GB" sz="2000" dirty="0">
                <a:solidFill>
                  <a:schemeClr val="tx1"/>
                </a:solidFill>
                <a:latin typeface="Arial" panose="020B0604020202020204" pitchFamily="34" charset="0"/>
                <a:ea typeface="Fira Code" panose="020B0809050000020004" pitchFamily="49" charset="0"/>
                <a:cs typeface="Arial" panose="020B0604020202020204" pitchFamily="34" charset="0"/>
              </a:rPr>
              <a:t>files,</a:t>
            </a:r>
          </a:p>
          <a:p>
            <a:pPr marL="342900" indent="-342900">
              <a:spcBef>
                <a:spcPts val="665"/>
              </a:spcBef>
              <a:buClr>
                <a:srgbClr val="00197D"/>
              </a:buClr>
              <a:buFont typeface="Arial" panose="020B0604020202020204" pitchFamily="34" charset="0"/>
              <a:buChar char="•"/>
            </a:pPr>
            <a:r>
              <a:rPr lang="en-GB" sz="2000" dirty="0">
                <a:solidFill>
                  <a:schemeClr val="tx1"/>
                </a:solidFill>
                <a:latin typeface="Arial" panose="020B0604020202020204" pitchFamily="34" charset="0"/>
                <a:ea typeface="Fira Code" panose="020B0809050000020004" pitchFamily="49" charset="0"/>
                <a:cs typeface="Arial" panose="020B0604020202020204" pitchFamily="34" charset="0"/>
              </a:rPr>
              <a:t>set of registers,</a:t>
            </a:r>
          </a:p>
          <a:p>
            <a:pPr marL="342900" indent="-342900">
              <a:spcBef>
                <a:spcPts val="665"/>
              </a:spcBef>
              <a:buClr>
                <a:srgbClr val="00197D"/>
              </a:buClr>
              <a:buFont typeface="Arial" panose="020B0604020202020204" pitchFamily="34" charset="0"/>
              <a:buChar char="•"/>
            </a:pPr>
            <a:r>
              <a:rPr lang="en-GB" sz="2000" dirty="0">
                <a:solidFill>
                  <a:schemeClr val="tx1"/>
                </a:solidFill>
                <a:latin typeface="Arial" panose="020B0604020202020204" pitchFamily="34" charset="0"/>
                <a:ea typeface="Fira Code" panose="020B0809050000020004" pitchFamily="49" charset="0"/>
                <a:cs typeface="Arial" panose="020B0604020202020204" pitchFamily="34" charset="0"/>
              </a:rPr>
              <a:t>I/O units,</a:t>
            </a:r>
          </a:p>
          <a:p>
            <a:pPr marL="342900" indent="-342900">
              <a:spcBef>
                <a:spcPts val="665"/>
              </a:spcBef>
              <a:buClr>
                <a:srgbClr val="00197D"/>
              </a:buClr>
              <a:buFont typeface="Arial" panose="020B0604020202020204" pitchFamily="34" charset="0"/>
              <a:buChar char="•"/>
            </a:pPr>
            <a:r>
              <a:rPr lang="en-GB" sz="2000" dirty="0">
                <a:solidFill>
                  <a:schemeClr val="tx1"/>
                </a:solidFill>
                <a:latin typeface="Arial" panose="020B0604020202020204" pitchFamily="34" charset="0"/>
                <a:ea typeface="Fira Code" panose="020B0809050000020004" pitchFamily="49" charset="0"/>
                <a:cs typeface="Arial" panose="020B0604020202020204" pitchFamily="34" charset="0"/>
              </a:rPr>
              <a:t>the processor, etc.</a:t>
            </a:r>
          </a:p>
        </p:txBody>
      </p:sp>
      <p:sp>
        <p:nvSpPr>
          <p:cNvPr id="3" name="object 3">
            <a:extLst>
              <a:ext uri="{FF2B5EF4-FFF2-40B4-BE49-F238E27FC236}">
                <a16:creationId xmlns:a16="http://schemas.microsoft.com/office/drawing/2014/main" id="{C1FE2539-FA53-4B50-199D-BCA4E2BDC81B}"/>
              </a:ext>
            </a:extLst>
          </p:cNvPr>
          <p:cNvSpPr txBox="1">
            <a:spLocks noGrp="1"/>
          </p:cNvSpPr>
          <p:nvPr>
            <p:ph type="title"/>
          </p:nvPr>
        </p:nvSpPr>
        <p:spPr>
          <a:xfrm>
            <a:off x="1947751" y="173736"/>
            <a:ext cx="4576233" cy="366767"/>
          </a:xfrm>
          <a:prstGeom prst="rect">
            <a:avLst/>
          </a:prstGeom>
        </p:spPr>
        <p:txBody>
          <a:bodyPr vert="horz" wrap="square" lIns="0" tIns="12700" rIns="0" bIns="0" rtlCol="0">
            <a:spAutoFit/>
          </a:bodyPr>
          <a:lstStyle/>
          <a:p>
            <a:pPr marL="12700">
              <a:spcBef>
                <a:spcPts val="100"/>
              </a:spcBef>
            </a:pPr>
            <a:r>
              <a:rPr lang="en-GB" spc="-40" dirty="0"/>
              <a:t>Resource Access Protocol</a:t>
            </a:r>
            <a:endParaRPr spc="-20" dirty="0"/>
          </a:p>
        </p:txBody>
      </p:sp>
      <p:sp>
        <p:nvSpPr>
          <p:cNvPr id="7" name="Footer Placeholder 6">
            <a:extLst>
              <a:ext uri="{FF2B5EF4-FFF2-40B4-BE49-F238E27FC236}">
                <a16:creationId xmlns:a16="http://schemas.microsoft.com/office/drawing/2014/main" id="{40801D7B-C107-5749-B83F-AEF6152B2542}"/>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81C91E07-1EEF-1D82-1671-C2982A7B09E4}"/>
              </a:ext>
            </a:extLst>
          </p:cNvPr>
          <p:cNvSpPr>
            <a:spLocks noGrp="1"/>
          </p:cNvSpPr>
          <p:nvPr>
            <p:ph type="sldNum" sz="quarter" idx="7"/>
          </p:nvPr>
        </p:nvSpPr>
        <p:spPr/>
        <p:txBody>
          <a:bodyPr/>
          <a:lstStyle/>
          <a:p>
            <a:pPr marL="12700">
              <a:spcBef>
                <a:spcPts val="30"/>
              </a:spcBef>
            </a:pPr>
            <a:r>
              <a:rPr lang="en-GB" dirty="0"/>
              <a:t>20</a:t>
            </a:r>
            <a:r>
              <a:rPr lang="en-DE" dirty="0"/>
              <a:t>.</a:t>
            </a:r>
            <a:r>
              <a:rPr lang="en-GB" dirty="0"/>
              <a:t>06</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3</a:t>
            </a:fld>
            <a:r>
              <a:rPr spc="-15" dirty="0"/>
              <a:t> </a:t>
            </a:r>
            <a:r>
              <a:rPr spc="-50" dirty="0"/>
              <a:t>&gt;</a:t>
            </a:r>
          </a:p>
        </p:txBody>
      </p:sp>
      <p:pic>
        <p:nvPicPr>
          <p:cNvPr id="5" name="Picture 4" descr="A diagram of a diagram&#10;&#10;Description automatically generated">
            <a:extLst>
              <a:ext uri="{FF2B5EF4-FFF2-40B4-BE49-F238E27FC236}">
                <a16:creationId xmlns:a16="http://schemas.microsoft.com/office/drawing/2014/main" id="{57CA20D2-2FE8-2C7A-C96C-9A68D03F7608}"/>
              </a:ext>
            </a:extLst>
          </p:cNvPr>
          <p:cNvPicPr>
            <a:picLocks noChangeAspect="1"/>
          </p:cNvPicPr>
          <p:nvPr/>
        </p:nvPicPr>
        <p:blipFill rotWithShape="1">
          <a:blip r:embed="rId2">
            <a:extLst>
              <a:ext uri="{28A0092B-C50C-407E-A947-70E740481C1C}">
                <a14:useLocalDpi xmlns:a14="http://schemas.microsoft.com/office/drawing/2010/main" val="0"/>
              </a:ext>
            </a:extLst>
          </a:blip>
          <a:srcRect l="3518" t="7985" r="3518" b="4597"/>
          <a:stretch/>
        </p:blipFill>
        <p:spPr>
          <a:xfrm>
            <a:off x="6897179" y="1666051"/>
            <a:ext cx="4873768" cy="3649299"/>
          </a:xfrm>
          <a:prstGeom prst="rect">
            <a:avLst/>
          </a:prstGeom>
        </p:spPr>
      </p:pic>
      <p:sp>
        <p:nvSpPr>
          <p:cNvPr id="17" name="TextBox 16">
            <a:extLst>
              <a:ext uri="{FF2B5EF4-FFF2-40B4-BE49-F238E27FC236}">
                <a16:creationId xmlns:a16="http://schemas.microsoft.com/office/drawing/2014/main" id="{081932BF-C7EB-C686-D785-CBFDC773F3DB}"/>
              </a:ext>
            </a:extLst>
          </p:cNvPr>
          <p:cNvSpPr txBox="1"/>
          <p:nvPr/>
        </p:nvSpPr>
        <p:spPr>
          <a:xfrm>
            <a:off x="412915" y="4800600"/>
            <a:ext cx="7365706" cy="1631216"/>
          </a:xfrm>
          <a:prstGeom prst="rect">
            <a:avLst/>
          </a:prstGeom>
          <a:noFill/>
        </p:spPr>
        <p:txBody>
          <a:bodyPr wrap="square">
            <a:spAutoFit/>
          </a:bodyPr>
          <a:lstStyle/>
          <a:p>
            <a:r>
              <a:rPr lang="en-GB" sz="2000" b="1" dirty="0"/>
              <a:t>Mutual exclusion, critical Section</a:t>
            </a:r>
          </a:p>
          <a:p>
            <a:endParaRPr lang="en-GB" sz="2000" b="1" dirty="0">
              <a:latin typeface="Arial" panose="020B0604020202020204" pitchFamily="34" charset="0"/>
              <a:cs typeface="Arial" panose="020B0604020202020204" pitchFamily="34" charset="0"/>
            </a:endParaRPr>
          </a:p>
          <a:p>
            <a:r>
              <a:rPr lang="en-GB" sz="2000" dirty="0"/>
              <a:t>• When a job enters the critical section of a shared resource, the accesses to the shared resource from other jobs are blocked.</a:t>
            </a:r>
            <a:endParaRPr lang="LID4096" sz="2000" dirty="0"/>
          </a:p>
        </p:txBody>
      </p:sp>
    </p:spTree>
    <p:extLst>
      <p:ext uri="{BB962C8B-B14F-4D97-AF65-F5344CB8AC3E}">
        <p14:creationId xmlns:p14="http://schemas.microsoft.com/office/powerpoint/2010/main" val="4093036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ECCB1-0ADA-9838-DC47-309A8CF52B9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539859F-F830-69C7-B172-85D6C1418E0D}"/>
              </a:ext>
            </a:extLst>
          </p:cNvPr>
          <p:cNvSpPr txBox="1">
            <a:spLocks noGrp="1"/>
          </p:cNvSpPr>
          <p:nvPr>
            <p:ph type="title"/>
          </p:nvPr>
        </p:nvSpPr>
        <p:spPr>
          <a:xfrm>
            <a:off x="1947751" y="173736"/>
            <a:ext cx="4576233" cy="366767"/>
          </a:xfrm>
          <a:prstGeom prst="rect">
            <a:avLst/>
          </a:prstGeom>
        </p:spPr>
        <p:txBody>
          <a:bodyPr vert="horz" wrap="square" lIns="0" tIns="12700" rIns="0" bIns="0" rtlCol="0">
            <a:spAutoFit/>
          </a:bodyPr>
          <a:lstStyle/>
          <a:p>
            <a:pPr marL="12700">
              <a:spcBef>
                <a:spcPts val="100"/>
              </a:spcBef>
            </a:pPr>
            <a:r>
              <a:rPr lang="en-GB" dirty="0"/>
              <a:t>Autonomous Traffic Control</a:t>
            </a:r>
            <a:endParaRPr spc="-50" dirty="0"/>
          </a:p>
        </p:txBody>
      </p:sp>
      <p:sp>
        <p:nvSpPr>
          <p:cNvPr id="10" name="Footer Placeholder 9">
            <a:extLst>
              <a:ext uri="{FF2B5EF4-FFF2-40B4-BE49-F238E27FC236}">
                <a16:creationId xmlns:a16="http://schemas.microsoft.com/office/drawing/2014/main" id="{B46933E9-5812-9F87-4136-6566A18F16F3}"/>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3" name="Slide Number Placeholder 12">
            <a:extLst>
              <a:ext uri="{FF2B5EF4-FFF2-40B4-BE49-F238E27FC236}">
                <a16:creationId xmlns:a16="http://schemas.microsoft.com/office/drawing/2014/main" id="{8C228C2C-1664-38FA-3C4B-40B651F493F5}"/>
              </a:ext>
            </a:extLst>
          </p:cNvPr>
          <p:cNvSpPr>
            <a:spLocks noGrp="1"/>
          </p:cNvSpPr>
          <p:nvPr>
            <p:ph type="sldNum" sz="quarter" idx="7"/>
          </p:nvPr>
        </p:nvSpPr>
        <p:spPr/>
        <p:txBody>
          <a:bodyPr/>
          <a:lstStyle/>
          <a:p>
            <a:pPr marL="12700">
              <a:spcBef>
                <a:spcPts val="30"/>
              </a:spcBef>
            </a:pPr>
            <a:r>
              <a:rPr lang="en-GB" dirty="0"/>
              <a:t>20</a:t>
            </a:r>
            <a:r>
              <a:rPr lang="en-DE" dirty="0"/>
              <a:t>.</a:t>
            </a:r>
            <a:r>
              <a:rPr lang="en-GB" dirty="0"/>
              <a:t>06</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4</a:t>
            </a:fld>
            <a:r>
              <a:rPr spc="-15" dirty="0"/>
              <a:t> </a:t>
            </a:r>
            <a:r>
              <a:rPr spc="-50" dirty="0"/>
              <a:t>&gt;</a:t>
            </a:r>
          </a:p>
        </p:txBody>
      </p:sp>
      <p:sp>
        <p:nvSpPr>
          <p:cNvPr id="14" name="Google Shape;655;p34">
            <a:extLst>
              <a:ext uri="{FF2B5EF4-FFF2-40B4-BE49-F238E27FC236}">
                <a16:creationId xmlns:a16="http://schemas.microsoft.com/office/drawing/2014/main" id="{0E28AFBA-A1FE-50F2-3AC9-01C9BB99A869}"/>
              </a:ext>
            </a:extLst>
          </p:cNvPr>
          <p:cNvSpPr/>
          <p:nvPr/>
        </p:nvSpPr>
        <p:spPr>
          <a:xfrm>
            <a:off x="1224710" y="4638825"/>
            <a:ext cx="154000" cy="154000"/>
          </a:xfrm>
          <a:prstGeom prst="ellipse">
            <a:avLst/>
          </a:prstGeom>
          <a:noFill/>
          <a:ln>
            <a:noFill/>
          </a:ln>
        </p:spPr>
        <p:txBody>
          <a:bodyPr spcFirstLastPara="1" wrap="square" lIns="121900" tIns="121900" rIns="121900" bIns="121900" anchor="ctr" anchorCtr="0">
            <a:noAutofit/>
          </a:bodyPr>
          <a:lstStyle/>
          <a:p>
            <a:pPr algn="l" defTabSz="1219170" rtl="0">
              <a:buClr>
                <a:srgbClr val="000000"/>
              </a:buClr>
            </a:pPr>
            <a:endParaRPr sz="1867">
              <a:solidFill>
                <a:srgbClr val="000000"/>
              </a:solidFill>
              <a:latin typeface="Arial"/>
              <a:ea typeface="+mn-ea"/>
              <a:cs typeface="Arial"/>
              <a:sym typeface="Arial"/>
            </a:endParaRPr>
          </a:p>
        </p:txBody>
      </p:sp>
      <p:sp>
        <p:nvSpPr>
          <p:cNvPr id="5" name="TextBox 4">
            <a:extLst>
              <a:ext uri="{FF2B5EF4-FFF2-40B4-BE49-F238E27FC236}">
                <a16:creationId xmlns:a16="http://schemas.microsoft.com/office/drawing/2014/main" id="{0A8E0626-DA23-DD28-2677-6FD4FCE4213A}"/>
              </a:ext>
            </a:extLst>
          </p:cNvPr>
          <p:cNvSpPr txBox="1"/>
          <p:nvPr/>
        </p:nvSpPr>
        <p:spPr>
          <a:xfrm>
            <a:off x="1641055" y="1419266"/>
            <a:ext cx="1899490" cy="369332"/>
          </a:xfrm>
          <a:prstGeom prst="rect">
            <a:avLst/>
          </a:prstGeom>
          <a:noFill/>
        </p:spPr>
        <p:txBody>
          <a:bodyPr wrap="square" rtlCol="0">
            <a:spAutoFit/>
          </a:bodyPr>
          <a:lstStyle/>
          <a:p>
            <a:r>
              <a:rPr lang="en-GB" b="1" dirty="0"/>
              <a:t>Server Queue</a:t>
            </a:r>
            <a:endParaRPr lang="LID4096" b="1" dirty="0"/>
          </a:p>
        </p:txBody>
      </p:sp>
      <p:graphicFrame>
        <p:nvGraphicFramePr>
          <p:cNvPr id="6" name="Table 5">
            <a:extLst>
              <a:ext uri="{FF2B5EF4-FFF2-40B4-BE49-F238E27FC236}">
                <a16:creationId xmlns:a16="http://schemas.microsoft.com/office/drawing/2014/main" id="{50D13A56-5AE9-B442-62B7-44957CEF84BA}"/>
              </a:ext>
            </a:extLst>
          </p:cNvPr>
          <p:cNvGraphicFramePr>
            <a:graphicFrameLocks noGrp="1"/>
          </p:cNvGraphicFramePr>
          <p:nvPr>
            <p:extLst>
              <p:ext uri="{D42A27DB-BD31-4B8C-83A1-F6EECF244321}">
                <p14:modId xmlns:p14="http://schemas.microsoft.com/office/powerpoint/2010/main" val="4193152991"/>
              </p:ext>
            </p:extLst>
          </p:nvPr>
        </p:nvGraphicFramePr>
        <p:xfrm>
          <a:off x="838200" y="2136112"/>
          <a:ext cx="3505200" cy="3590516"/>
        </p:xfrm>
        <a:graphic>
          <a:graphicData uri="http://schemas.openxmlformats.org/drawingml/2006/table">
            <a:tbl>
              <a:tblPr firstRow="1" bandRow="1">
                <a:tableStyleId>{D7AC3CCA-C797-4891-BE02-D94E43425B78}</a:tableStyleId>
              </a:tblPr>
              <a:tblGrid>
                <a:gridCol w="1752600">
                  <a:extLst>
                    <a:ext uri="{9D8B030D-6E8A-4147-A177-3AD203B41FA5}">
                      <a16:colId xmlns:a16="http://schemas.microsoft.com/office/drawing/2014/main" val="2849683964"/>
                    </a:ext>
                  </a:extLst>
                </a:gridCol>
                <a:gridCol w="1752600">
                  <a:extLst>
                    <a:ext uri="{9D8B030D-6E8A-4147-A177-3AD203B41FA5}">
                      <a16:colId xmlns:a16="http://schemas.microsoft.com/office/drawing/2014/main" val="682644487"/>
                    </a:ext>
                  </a:extLst>
                </a:gridCol>
              </a:tblGrid>
              <a:tr h="897629">
                <a:tc>
                  <a:txBody>
                    <a:bodyPr/>
                    <a:lstStyle/>
                    <a:p>
                      <a:pPr algn="just"/>
                      <a:r>
                        <a:rPr lang="en-GB" b="0" dirty="0"/>
                        <a:t>Priority 1</a:t>
                      </a:r>
                      <a:endParaRPr lang="LID4096" b="0" dirty="0"/>
                    </a:p>
                  </a:txBody>
                  <a:tcPr anchor="ctr" anchorCtr="1"/>
                </a:tc>
                <a:tc>
                  <a:txBody>
                    <a:bodyPr/>
                    <a:lstStyle/>
                    <a:p>
                      <a:r>
                        <a:rPr lang="en-GB" b="0" dirty="0"/>
                        <a:t>Car 1</a:t>
                      </a:r>
                      <a:endParaRPr lang="LID4096" b="0" dirty="0"/>
                    </a:p>
                  </a:txBody>
                  <a:tcPr anchor="ctr" anchorCtr="1"/>
                </a:tc>
                <a:extLst>
                  <a:ext uri="{0D108BD9-81ED-4DB2-BD59-A6C34878D82A}">
                    <a16:rowId xmlns:a16="http://schemas.microsoft.com/office/drawing/2014/main" val="791911982"/>
                  </a:ext>
                </a:extLst>
              </a:tr>
              <a:tr h="897629">
                <a:tc>
                  <a:txBody>
                    <a:bodyPr/>
                    <a:lstStyle/>
                    <a:p>
                      <a:r>
                        <a:rPr lang="en-GB" b="0" dirty="0"/>
                        <a:t>Priority 2</a:t>
                      </a:r>
                      <a:endParaRPr lang="LID4096" dirty="0"/>
                    </a:p>
                  </a:txBody>
                  <a:tcPr anchor="ctr" anchorCtr="1"/>
                </a:tc>
                <a:tc>
                  <a:txBody>
                    <a:bodyPr/>
                    <a:lstStyle/>
                    <a:p>
                      <a:r>
                        <a:rPr lang="en-GB" dirty="0"/>
                        <a:t>Car 2</a:t>
                      </a:r>
                      <a:endParaRPr lang="LID4096" dirty="0"/>
                    </a:p>
                  </a:txBody>
                  <a:tcPr anchor="ctr" anchorCtr="1"/>
                </a:tc>
                <a:extLst>
                  <a:ext uri="{0D108BD9-81ED-4DB2-BD59-A6C34878D82A}">
                    <a16:rowId xmlns:a16="http://schemas.microsoft.com/office/drawing/2014/main" val="3217036689"/>
                  </a:ext>
                </a:extLst>
              </a:tr>
              <a:tr h="897629">
                <a:tc>
                  <a:txBody>
                    <a:bodyPr/>
                    <a:lstStyle/>
                    <a:p>
                      <a:r>
                        <a:rPr lang="en-GB" b="0" dirty="0"/>
                        <a:t>Priority 3</a:t>
                      </a:r>
                      <a:endParaRPr lang="LID4096" dirty="0"/>
                    </a:p>
                  </a:txBody>
                  <a:tcPr anchor="ctr" anchorCtr="1"/>
                </a:tc>
                <a:tc>
                  <a:txBody>
                    <a:bodyPr/>
                    <a:lstStyle/>
                    <a:p>
                      <a:r>
                        <a:rPr lang="en-GB" dirty="0"/>
                        <a:t>Car 3</a:t>
                      </a:r>
                      <a:endParaRPr lang="LID4096" dirty="0"/>
                    </a:p>
                  </a:txBody>
                  <a:tcPr anchor="ctr" anchorCtr="1"/>
                </a:tc>
                <a:extLst>
                  <a:ext uri="{0D108BD9-81ED-4DB2-BD59-A6C34878D82A}">
                    <a16:rowId xmlns:a16="http://schemas.microsoft.com/office/drawing/2014/main" val="1322538569"/>
                  </a:ext>
                </a:extLst>
              </a:tr>
              <a:tr h="897629">
                <a:tc>
                  <a:txBody>
                    <a:bodyPr/>
                    <a:lstStyle/>
                    <a:p>
                      <a:r>
                        <a:rPr lang="en-GB" b="0" dirty="0"/>
                        <a:t>Priority 4</a:t>
                      </a:r>
                      <a:endParaRPr lang="LID4096" dirty="0"/>
                    </a:p>
                  </a:txBody>
                  <a:tcPr anchor="ctr" anchorCtr="1"/>
                </a:tc>
                <a:tc>
                  <a:txBody>
                    <a:bodyPr/>
                    <a:lstStyle/>
                    <a:p>
                      <a:r>
                        <a:rPr lang="en-GB" dirty="0"/>
                        <a:t>Car 4</a:t>
                      </a:r>
                      <a:endParaRPr lang="LID4096" dirty="0"/>
                    </a:p>
                  </a:txBody>
                  <a:tcPr anchor="ctr" anchorCtr="1"/>
                </a:tc>
                <a:extLst>
                  <a:ext uri="{0D108BD9-81ED-4DB2-BD59-A6C34878D82A}">
                    <a16:rowId xmlns:a16="http://schemas.microsoft.com/office/drawing/2014/main" val="1880564098"/>
                  </a:ext>
                </a:extLst>
              </a:tr>
            </a:tbl>
          </a:graphicData>
        </a:graphic>
      </p:graphicFrame>
      <p:sp>
        <p:nvSpPr>
          <p:cNvPr id="7" name="TextBox 6">
            <a:extLst>
              <a:ext uri="{FF2B5EF4-FFF2-40B4-BE49-F238E27FC236}">
                <a16:creationId xmlns:a16="http://schemas.microsoft.com/office/drawing/2014/main" id="{2C1CF958-1FF0-BFEB-0746-0C20FAFEA8DB}"/>
              </a:ext>
            </a:extLst>
          </p:cNvPr>
          <p:cNvSpPr txBox="1"/>
          <p:nvPr/>
        </p:nvSpPr>
        <p:spPr>
          <a:xfrm>
            <a:off x="5791200" y="2136112"/>
            <a:ext cx="6055143" cy="3477875"/>
          </a:xfrm>
          <a:prstGeom prst="rect">
            <a:avLst/>
          </a:prstGeom>
          <a:noFill/>
        </p:spPr>
        <p:txBody>
          <a:bodyPr wrap="square" rtlCol="0">
            <a:spAutoFit/>
          </a:bodyPr>
          <a:lstStyle/>
          <a:p>
            <a:pPr marL="285750" indent="-285750">
              <a:buFont typeface="Arial" panose="020B0604020202020204" pitchFamily="34" charset="0"/>
              <a:buChar char="•"/>
            </a:pPr>
            <a:r>
              <a:rPr lang="en-GB" sz="2000" dirty="0">
                <a:latin typeface="Arial" panose="020B0604020202020204" pitchFamily="34" charset="0"/>
                <a:cs typeface="Arial" panose="020B0604020202020204" pitchFamily="34" charset="0"/>
              </a:rPr>
              <a:t>In a 4-way cross sectional road, autonomous traffic control system is controlled by a priority server queue. </a:t>
            </a:r>
          </a:p>
          <a:p>
            <a:pPr marL="285750" indent="-285750">
              <a:buFont typeface="Arial" panose="020B0604020202020204" pitchFamily="34" charset="0"/>
              <a:buChar char="•"/>
            </a:pPr>
            <a:endParaRPr lang="en-GB"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000" dirty="0">
                <a:latin typeface="Arial" panose="020B0604020202020204" pitchFamily="34" charset="0"/>
                <a:cs typeface="Arial" panose="020B0604020202020204" pitchFamily="34" charset="0"/>
              </a:rPr>
              <a:t>Generally, vehicles are set to the queue as soon as they come.</a:t>
            </a:r>
          </a:p>
          <a:p>
            <a:pPr marL="285750" indent="-285750">
              <a:buFont typeface="Arial" panose="020B0604020202020204" pitchFamily="34" charset="0"/>
              <a:buChar char="•"/>
            </a:pPr>
            <a:endParaRPr lang="en-GB"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000" dirty="0">
                <a:latin typeface="Arial" panose="020B0604020202020204" pitchFamily="34" charset="0"/>
                <a:cs typeface="Arial" panose="020B0604020202020204" pitchFamily="34" charset="0"/>
              </a:rPr>
              <a:t>But fixed priority system for Resource Access creates a big problem.</a:t>
            </a:r>
          </a:p>
          <a:p>
            <a:pPr marL="285750" indent="-285750">
              <a:buFont typeface="Arial" panose="020B0604020202020204" pitchFamily="34" charset="0"/>
              <a:buChar char="•"/>
            </a:pPr>
            <a:endParaRPr lang="en-GB"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000" dirty="0">
                <a:latin typeface="Arial" panose="020B0604020202020204" pitchFamily="34" charset="0"/>
                <a:cs typeface="Arial" panose="020B0604020202020204" pitchFamily="34" charset="0"/>
              </a:rPr>
              <a:t>Like the Pathfinder system reset.</a:t>
            </a:r>
            <a:endParaRPr lang="LID4096"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8170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7751" y="173736"/>
            <a:ext cx="4576233" cy="382156"/>
          </a:xfrm>
          <a:prstGeom prst="rect">
            <a:avLst/>
          </a:prstGeom>
        </p:spPr>
        <p:txBody>
          <a:bodyPr vert="horz" wrap="square" lIns="0" tIns="12700" rIns="0" bIns="0" rtlCol="0">
            <a:spAutoFit/>
          </a:bodyPr>
          <a:lstStyle/>
          <a:p>
            <a:pPr marL="12700">
              <a:spcBef>
                <a:spcPts val="100"/>
              </a:spcBef>
            </a:pPr>
            <a:r>
              <a:rPr lang="en-GB" sz="2400" dirty="0"/>
              <a:t>Priority Inversion Problem</a:t>
            </a:r>
            <a:endParaRPr lang="en-GB" spc="-25" dirty="0"/>
          </a:p>
        </p:txBody>
      </p:sp>
      <p:sp>
        <p:nvSpPr>
          <p:cNvPr id="7" name="Footer Placeholder 6">
            <a:extLst>
              <a:ext uri="{FF2B5EF4-FFF2-40B4-BE49-F238E27FC236}">
                <a16:creationId xmlns:a16="http://schemas.microsoft.com/office/drawing/2014/main" id="{E0395AFC-CF0B-261E-124B-FA377C79FBAC}"/>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E1432AFD-AB8F-C196-D375-41E5F3CCB6B2}"/>
              </a:ext>
            </a:extLst>
          </p:cNvPr>
          <p:cNvSpPr>
            <a:spLocks noGrp="1"/>
          </p:cNvSpPr>
          <p:nvPr>
            <p:ph type="sldNum" sz="quarter" idx="7"/>
          </p:nvPr>
        </p:nvSpPr>
        <p:spPr/>
        <p:txBody>
          <a:bodyPr/>
          <a:lstStyle/>
          <a:p>
            <a:pPr marL="12700">
              <a:spcBef>
                <a:spcPts val="30"/>
              </a:spcBef>
            </a:pPr>
            <a:r>
              <a:rPr lang="en-GB" dirty="0"/>
              <a:t>20</a:t>
            </a:r>
            <a:r>
              <a:rPr lang="en-DE" dirty="0"/>
              <a:t>.</a:t>
            </a:r>
            <a:r>
              <a:rPr lang="en-GB" dirty="0"/>
              <a:t>06</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5</a:t>
            </a:fld>
            <a:r>
              <a:rPr spc="-15" dirty="0"/>
              <a:t> </a:t>
            </a:r>
            <a:r>
              <a:rPr spc="-50" dirty="0"/>
              <a:t>&gt;</a:t>
            </a:r>
          </a:p>
        </p:txBody>
      </p:sp>
      <p:pic>
        <p:nvPicPr>
          <p:cNvPr id="6" name="Picture 5" descr="A diagram of a block diagram&#10;&#10;Description automatically generated">
            <a:extLst>
              <a:ext uri="{FF2B5EF4-FFF2-40B4-BE49-F238E27FC236}">
                <a16:creationId xmlns:a16="http://schemas.microsoft.com/office/drawing/2014/main" id="{AE3A85F1-A105-6DE9-7752-49641EA08EE1}"/>
              </a:ext>
            </a:extLst>
          </p:cNvPr>
          <p:cNvPicPr>
            <a:picLocks noChangeAspect="1"/>
          </p:cNvPicPr>
          <p:nvPr/>
        </p:nvPicPr>
        <p:blipFill rotWithShape="1">
          <a:blip r:embed="rId2">
            <a:extLst>
              <a:ext uri="{28A0092B-C50C-407E-A947-70E740481C1C}">
                <a14:useLocalDpi xmlns:a14="http://schemas.microsoft.com/office/drawing/2010/main" val="0"/>
              </a:ext>
            </a:extLst>
          </a:blip>
          <a:srcRect l="4266" t="7625" r="5181" b="4235"/>
          <a:stretch/>
        </p:blipFill>
        <p:spPr>
          <a:xfrm>
            <a:off x="2324100" y="1343022"/>
            <a:ext cx="7543800" cy="3962400"/>
          </a:xfrm>
          <a:prstGeom prst="rect">
            <a:avLst/>
          </a:prstGeom>
        </p:spPr>
      </p:pic>
      <p:sp>
        <p:nvSpPr>
          <p:cNvPr id="13" name="TextBox 12">
            <a:extLst>
              <a:ext uri="{FF2B5EF4-FFF2-40B4-BE49-F238E27FC236}">
                <a16:creationId xmlns:a16="http://schemas.microsoft.com/office/drawing/2014/main" id="{37C1794C-9B3C-C39B-8CEE-DEDDA9BAD31B}"/>
              </a:ext>
            </a:extLst>
          </p:cNvPr>
          <p:cNvSpPr txBox="1"/>
          <p:nvPr/>
        </p:nvSpPr>
        <p:spPr>
          <a:xfrm>
            <a:off x="3352800" y="5611968"/>
            <a:ext cx="6098958" cy="369332"/>
          </a:xfrm>
          <a:prstGeom prst="rect">
            <a:avLst/>
          </a:prstGeom>
          <a:noFill/>
        </p:spPr>
        <p:txBody>
          <a:bodyPr wrap="square">
            <a:spAutoFit/>
          </a:bodyPr>
          <a:lstStyle/>
          <a:p>
            <a:r>
              <a:rPr lang="en-GB" sz="1800" dirty="0">
                <a:solidFill>
                  <a:srgbClr val="000000"/>
                </a:solidFill>
                <a:effectLst/>
                <a:latin typeface="Arial" panose="020B0604020202020204" pitchFamily="34" charset="0"/>
                <a:cs typeface="Arial" panose="020B0604020202020204" pitchFamily="34" charset="0"/>
              </a:rPr>
              <a:t>A higher priority job is </a:t>
            </a:r>
            <a:r>
              <a:rPr lang="en-GB" sz="1800" i="1" dirty="0">
                <a:solidFill>
                  <a:srgbClr val="000000"/>
                </a:solidFill>
                <a:effectLst/>
                <a:latin typeface="Arial" panose="020B0604020202020204" pitchFamily="34" charset="0"/>
                <a:cs typeface="Arial" panose="020B0604020202020204" pitchFamily="34" charset="0"/>
              </a:rPr>
              <a:t>blocked </a:t>
            </a:r>
            <a:r>
              <a:rPr lang="en-GB" sz="1800" dirty="0">
                <a:solidFill>
                  <a:srgbClr val="000000"/>
                </a:solidFill>
                <a:effectLst/>
                <a:latin typeface="Arial" panose="020B0604020202020204" pitchFamily="34" charset="0"/>
                <a:cs typeface="Arial" panose="020B0604020202020204" pitchFamily="34" charset="0"/>
              </a:rPr>
              <a:t>by a lower-priority job. </a:t>
            </a:r>
            <a:endParaRPr lang="LID4096"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7C52711F-8EEA-ABC5-E6B8-52C49502278E}"/>
              </a:ext>
            </a:extLst>
          </p:cNvPr>
          <p:cNvSpPr txBox="1"/>
          <p:nvPr/>
        </p:nvSpPr>
        <p:spPr>
          <a:xfrm rot="2285531">
            <a:off x="8462420" y="2074778"/>
            <a:ext cx="1450867" cy="461665"/>
          </a:xfrm>
          <a:prstGeom prst="rect">
            <a:avLst/>
          </a:prstGeom>
          <a:noFill/>
        </p:spPr>
        <p:txBody>
          <a:bodyPr wrap="square" rtlCol="0">
            <a:spAutoFit/>
          </a:bodyPr>
          <a:lstStyle/>
          <a:p>
            <a:r>
              <a:rPr lang="en-GB" sz="2400" b="1" dirty="0">
                <a:solidFill>
                  <a:srgbClr val="FF0000"/>
                </a:solidFill>
                <a:latin typeface="Arial" panose="020B0604020202020204" pitchFamily="34" charset="0"/>
                <a:cs typeface="Arial" panose="020B0604020202020204" pitchFamily="34" charset="0"/>
              </a:rPr>
              <a:t>RESET</a:t>
            </a:r>
            <a:endParaRPr lang="LID4096" b="1" dirty="0">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B0966-5ED8-83A1-3255-97B49AB2B4B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D2208EF-79C9-6C31-5E2C-778A2BFF26DF}"/>
              </a:ext>
            </a:extLst>
          </p:cNvPr>
          <p:cNvSpPr txBox="1">
            <a:spLocks noGrp="1"/>
          </p:cNvSpPr>
          <p:nvPr>
            <p:ph type="title"/>
          </p:nvPr>
        </p:nvSpPr>
        <p:spPr>
          <a:xfrm>
            <a:off x="1947751" y="173736"/>
            <a:ext cx="4576233" cy="366767"/>
          </a:xfrm>
          <a:prstGeom prst="rect">
            <a:avLst/>
          </a:prstGeom>
        </p:spPr>
        <p:txBody>
          <a:bodyPr vert="horz" wrap="square" lIns="0" tIns="12700" rIns="0" bIns="0" rtlCol="0">
            <a:spAutoFit/>
          </a:bodyPr>
          <a:lstStyle/>
          <a:p>
            <a:pPr marL="12700">
              <a:spcBef>
                <a:spcPts val="100"/>
              </a:spcBef>
            </a:pPr>
            <a:r>
              <a:rPr lang="en-GB" dirty="0"/>
              <a:t>Priority inheritance protocol.</a:t>
            </a:r>
            <a:endParaRPr lang="en-GB" spc="-50" dirty="0"/>
          </a:p>
        </p:txBody>
      </p:sp>
      <p:sp>
        <p:nvSpPr>
          <p:cNvPr id="10" name="Footer Placeholder 9">
            <a:extLst>
              <a:ext uri="{FF2B5EF4-FFF2-40B4-BE49-F238E27FC236}">
                <a16:creationId xmlns:a16="http://schemas.microsoft.com/office/drawing/2014/main" id="{2F1288C9-8D92-2764-8373-89A97F5F5621}"/>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3" name="Slide Number Placeholder 12">
            <a:extLst>
              <a:ext uri="{FF2B5EF4-FFF2-40B4-BE49-F238E27FC236}">
                <a16:creationId xmlns:a16="http://schemas.microsoft.com/office/drawing/2014/main" id="{121B2FA9-CD77-B4CA-C3F8-3BAD115A821D}"/>
              </a:ext>
            </a:extLst>
          </p:cNvPr>
          <p:cNvSpPr>
            <a:spLocks noGrp="1"/>
          </p:cNvSpPr>
          <p:nvPr>
            <p:ph type="sldNum" sz="quarter" idx="7"/>
          </p:nvPr>
        </p:nvSpPr>
        <p:spPr/>
        <p:txBody>
          <a:bodyPr/>
          <a:lstStyle/>
          <a:p>
            <a:pPr marL="12700">
              <a:spcBef>
                <a:spcPts val="30"/>
              </a:spcBef>
            </a:pPr>
            <a:r>
              <a:rPr lang="en-GB" dirty="0"/>
              <a:t>20</a:t>
            </a:r>
            <a:r>
              <a:rPr lang="en-DE" dirty="0"/>
              <a:t>.</a:t>
            </a:r>
            <a:r>
              <a:rPr lang="en-GB" dirty="0"/>
              <a:t>06</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6</a:t>
            </a:fld>
            <a:r>
              <a:rPr spc="-15" dirty="0"/>
              <a:t> </a:t>
            </a:r>
            <a:r>
              <a:rPr spc="-50" dirty="0"/>
              <a:t>&gt;</a:t>
            </a:r>
          </a:p>
        </p:txBody>
      </p:sp>
      <p:pic>
        <p:nvPicPr>
          <p:cNvPr id="5" name="Picture 4" descr="A diagram of a graph&#10;&#10;Description automatically generated">
            <a:extLst>
              <a:ext uri="{FF2B5EF4-FFF2-40B4-BE49-F238E27FC236}">
                <a16:creationId xmlns:a16="http://schemas.microsoft.com/office/drawing/2014/main" id="{00A7F06E-4B09-E16C-AE0D-FA07BBB010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826" y="1752600"/>
            <a:ext cx="5711174" cy="3048000"/>
          </a:xfrm>
          <a:prstGeom prst="rect">
            <a:avLst/>
          </a:prstGeom>
        </p:spPr>
      </p:pic>
      <p:sp>
        <p:nvSpPr>
          <p:cNvPr id="6" name="TextBox 5">
            <a:extLst>
              <a:ext uri="{FF2B5EF4-FFF2-40B4-BE49-F238E27FC236}">
                <a16:creationId xmlns:a16="http://schemas.microsoft.com/office/drawing/2014/main" id="{F9267E57-F94A-0799-264C-D3741575C81D}"/>
              </a:ext>
            </a:extLst>
          </p:cNvPr>
          <p:cNvSpPr txBox="1"/>
          <p:nvPr/>
        </p:nvSpPr>
        <p:spPr>
          <a:xfrm>
            <a:off x="533400" y="5105400"/>
            <a:ext cx="6098958" cy="1015663"/>
          </a:xfrm>
          <a:prstGeom prst="rect">
            <a:avLst/>
          </a:prstGeom>
          <a:noFill/>
        </p:spPr>
        <p:txBody>
          <a:bodyPr wrap="square">
            <a:spAutoFit/>
          </a:bodyPr>
          <a:lstStyle/>
          <a:p>
            <a:r>
              <a:rPr lang="en-GB" sz="2000" dirty="0">
                <a:solidFill>
                  <a:srgbClr val="000000"/>
                </a:solidFill>
                <a:effectLst/>
                <a:latin typeface="Arial" panose="020B0604020202020204" pitchFamily="34" charset="0"/>
                <a:cs typeface="Arial" panose="020B0604020202020204" pitchFamily="34" charset="0"/>
              </a:rPr>
              <a:t>When a lower-priority job</a:t>
            </a:r>
            <a:r>
              <a:rPr lang="en-GB" sz="2000" i="1" dirty="0">
                <a:solidFill>
                  <a:srgbClr val="000000"/>
                </a:solidFill>
                <a:effectLst/>
                <a:latin typeface="Arial" panose="020B0604020202020204" pitchFamily="34" charset="0"/>
                <a:cs typeface="Arial" panose="020B0604020202020204" pitchFamily="34" charset="0"/>
              </a:rPr>
              <a:t> </a:t>
            </a:r>
            <a:r>
              <a:rPr lang="en-GB" sz="2000" dirty="0">
                <a:solidFill>
                  <a:srgbClr val="000000"/>
                </a:solidFill>
                <a:effectLst/>
                <a:latin typeface="Arial" panose="020B0604020202020204" pitchFamily="34" charset="0"/>
                <a:cs typeface="Arial" panose="020B0604020202020204" pitchFamily="34" charset="0"/>
              </a:rPr>
              <a:t>blocks a higher-priority job, the priority of lower job is </a:t>
            </a:r>
            <a:r>
              <a:rPr lang="en-GB" sz="2000" i="1" dirty="0">
                <a:solidFill>
                  <a:srgbClr val="000000"/>
                </a:solidFill>
                <a:effectLst/>
                <a:latin typeface="Arial" panose="020B0604020202020204" pitchFamily="34" charset="0"/>
                <a:cs typeface="Arial" panose="020B0604020202020204" pitchFamily="34" charset="0"/>
              </a:rPr>
              <a:t>promoted </a:t>
            </a:r>
            <a:r>
              <a:rPr lang="en-GB" sz="2000" dirty="0">
                <a:solidFill>
                  <a:srgbClr val="000000"/>
                </a:solidFill>
                <a:effectLst/>
                <a:latin typeface="Arial" panose="020B0604020202020204" pitchFamily="34" charset="0"/>
                <a:cs typeface="Arial" panose="020B0604020202020204" pitchFamily="34" charset="0"/>
              </a:rPr>
              <a:t>to the priority level of highest-priority job.</a:t>
            </a:r>
            <a:endParaRPr lang="LID4096" sz="2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992D256-8036-838C-5EA4-93CEA99C8644}"/>
              </a:ext>
            </a:extLst>
          </p:cNvPr>
          <p:cNvSpPr txBox="1"/>
          <p:nvPr/>
        </p:nvSpPr>
        <p:spPr>
          <a:xfrm>
            <a:off x="6944717" y="2362200"/>
            <a:ext cx="5026242" cy="2862322"/>
          </a:xfrm>
          <a:prstGeom prst="rect">
            <a:avLst/>
          </a:prstGeom>
          <a:noFill/>
        </p:spPr>
        <p:txBody>
          <a:bodyPr wrap="square">
            <a:spAutoFit/>
          </a:bodyPr>
          <a:lstStyle/>
          <a:p>
            <a:r>
              <a:rPr lang="en-GB" dirty="0"/>
              <a:t>• T0: J1 arrives and </a:t>
            </a:r>
            <a:r>
              <a:rPr lang="en-GB" dirty="0" err="1"/>
              <a:t>preempts</a:t>
            </a:r>
            <a:r>
              <a:rPr lang="en-GB" dirty="0"/>
              <a:t> J3</a:t>
            </a:r>
          </a:p>
          <a:p>
            <a:endParaRPr lang="en-GB" dirty="0"/>
          </a:p>
          <a:p>
            <a:r>
              <a:rPr lang="en-GB" dirty="0"/>
              <a:t>• T1: J3 inherits J1’s priority</a:t>
            </a:r>
          </a:p>
          <a:p>
            <a:endParaRPr lang="en-GB" dirty="0"/>
          </a:p>
          <a:p>
            <a:r>
              <a:rPr lang="en-GB" dirty="0"/>
              <a:t>• T2: J2 arrives and has a lower priority than J3</a:t>
            </a:r>
          </a:p>
          <a:p>
            <a:endParaRPr lang="en-GB" dirty="0"/>
          </a:p>
          <a:p>
            <a:r>
              <a:rPr lang="en-GB" dirty="0"/>
              <a:t>• T3: J3 leaves, and J1 now </a:t>
            </a:r>
            <a:r>
              <a:rPr lang="en-GB" dirty="0" err="1"/>
              <a:t>preempts</a:t>
            </a:r>
            <a:r>
              <a:rPr lang="en-GB" dirty="0"/>
              <a:t> J3.</a:t>
            </a:r>
          </a:p>
          <a:p>
            <a:endParaRPr lang="en-GB" dirty="0"/>
          </a:p>
          <a:p>
            <a:r>
              <a:rPr lang="en-GB" dirty="0"/>
              <a:t>• T4: J1 finishes, and J2 is the highest-priority task.</a:t>
            </a:r>
            <a:endParaRPr lang="LID4096" dirty="0"/>
          </a:p>
        </p:txBody>
      </p:sp>
    </p:spTree>
    <p:extLst>
      <p:ext uri="{BB962C8B-B14F-4D97-AF65-F5344CB8AC3E}">
        <p14:creationId xmlns:p14="http://schemas.microsoft.com/office/powerpoint/2010/main" val="1778191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B68EB91-03E4-9D65-8FA2-BE5360D8B24A}"/>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5" name="Slide Number Placeholder 4">
            <a:extLst>
              <a:ext uri="{FF2B5EF4-FFF2-40B4-BE49-F238E27FC236}">
                <a16:creationId xmlns:a16="http://schemas.microsoft.com/office/drawing/2014/main" id="{51BF45C7-15F8-EFBC-293B-ABB45AE21665}"/>
              </a:ext>
            </a:extLst>
          </p:cNvPr>
          <p:cNvSpPr>
            <a:spLocks noGrp="1"/>
          </p:cNvSpPr>
          <p:nvPr>
            <p:ph type="sldNum" sz="quarter" idx="7"/>
          </p:nvPr>
        </p:nvSpPr>
        <p:spPr/>
        <p:txBody>
          <a:body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7</a:t>
            </a:fld>
            <a:r>
              <a:rPr spc="-15"/>
              <a:t> </a:t>
            </a:r>
            <a:r>
              <a:rPr spc="-50"/>
              <a:t>&gt;</a:t>
            </a:r>
            <a:endParaRPr spc="-50" dirty="0"/>
          </a:p>
        </p:txBody>
      </p:sp>
      <p:pic>
        <p:nvPicPr>
          <p:cNvPr id="6" name="Picture 5" descr="A diagram of a graph&#10;&#10;Description automatically generated">
            <a:extLst>
              <a:ext uri="{FF2B5EF4-FFF2-40B4-BE49-F238E27FC236}">
                <a16:creationId xmlns:a16="http://schemas.microsoft.com/office/drawing/2014/main" id="{CC477F80-C2A1-2DE6-5F90-AB3230D68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1676400"/>
            <a:ext cx="7306090" cy="3899192"/>
          </a:xfrm>
          <a:prstGeom prst="rect">
            <a:avLst/>
          </a:prstGeom>
        </p:spPr>
      </p:pic>
    </p:spTree>
    <p:extLst>
      <p:ext uri="{BB962C8B-B14F-4D97-AF65-F5344CB8AC3E}">
        <p14:creationId xmlns:p14="http://schemas.microsoft.com/office/powerpoint/2010/main" val="2637266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29E3-FB8A-319C-D527-D9185677563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7D0565-7E04-3B83-0350-4DCF1AF6C4CC}"/>
              </a:ext>
            </a:extLst>
          </p:cNvPr>
          <p:cNvSpPr txBox="1">
            <a:spLocks noGrp="1"/>
          </p:cNvSpPr>
          <p:nvPr>
            <p:ph type="title"/>
          </p:nvPr>
        </p:nvSpPr>
        <p:spPr>
          <a:xfrm>
            <a:off x="1947751" y="173736"/>
            <a:ext cx="4576233" cy="505267"/>
          </a:xfrm>
          <a:prstGeom prst="rect">
            <a:avLst/>
          </a:prstGeom>
        </p:spPr>
        <p:txBody>
          <a:bodyPr vert="horz" wrap="square" lIns="0" tIns="12700" rIns="0" bIns="0" rtlCol="0">
            <a:spAutoFit/>
          </a:bodyPr>
          <a:lstStyle/>
          <a:p>
            <a:pPr marL="12700">
              <a:spcBef>
                <a:spcPts val="100"/>
              </a:spcBef>
            </a:pPr>
            <a:r>
              <a:rPr lang="en-GB" sz="3200" spc="-25" dirty="0"/>
              <a:t>UPPAL Simulation</a:t>
            </a:r>
            <a:endParaRPr spc="-25" dirty="0"/>
          </a:p>
        </p:txBody>
      </p:sp>
      <p:sp>
        <p:nvSpPr>
          <p:cNvPr id="7" name="Footer Placeholder 6">
            <a:extLst>
              <a:ext uri="{FF2B5EF4-FFF2-40B4-BE49-F238E27FC236}">
                <a16:creationId xmlns:a16="http://schemas.microsoft.com/office/drawing/2014/main" id="{AFA36804-5DCA-24B2-A605-818B4EAC1793}"/>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F64D228B-9438-7EC5-BE3A-B3F18D5BF7DF}"/>
              </a:ext>
            </a:extLst>
          </p:cNvPr>
          <p:cNvSpPr>
            <a:spLocks noGrp="1"/>
          </p:cNvSpPr>
          <p:nvPr>
            <p:ph type="sldNum" sz="quarter" idx="7"/>
          </p:nvPr>
        </p:nvSpPr>
        <p:spPr/>
        <p:txBody>
          <a:bodyPr/>
          <a:lstStyle/>
          <a:p>
            <a:pPr marL="12700">
              <a:spcBef>
                <a:spcPts val="30"/>
              </a:spcBef>
            </a:pPr>
            <a:r>
              <a:rPr lang="en-GB" dirty="0"/>
              <a:t>20</a:t>
            </a:r>
            <a:r>
              <a:rPr lang="en-DE" dirty="0"/>
              <a:t>.</a:t>
            </a:r>
            <a:r>
              <a:rPr lang="en-GB" dirty="0"/>
              <a:t>06</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8</a:t>
            </a:fld>
            <a:r>
              <a:rPr spc="-15" dirty="0"/>
              <a:t> </a:t>
            </a:r>
            <a:r>
              <a:rPr spc="-50" dirty="0"/>
              <a:t>&gt;</a:t>
            </a:r>
          </a:p>
        </p:txBody>
      </p:sp>
      <p:pic>
        <p:nvPicPr>
          <p:cNvPr id="4" name="Picture 3" descr="A screenshot of a computer&#10;&#10;Description automatically generated">
            <a:extLst>
              <a:ext uri="{FF2B5EF4-FFF2-40B4-BE49-F238E27FC236}">
                <a16:creationId xmlns:a16="http://schemas.microsoft.com/office/drawing/2014/main" id="{C6CCFE01-80F3-617C-1A46-421FC5852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6472" y="1371600"/>
            <a:ext cx="7120049" cy="4820262"/>
          </a:xfrm>
          <a:prstGeom prst="rect">
            <a:avLst/>
          </a:prstGeom>
        </p:spPr>
      </p:pic>
    </p:spTree>
    <p:extLst>
      <p:ext uri="{BB962C8B-B14F-4D97-AF65-F5344CB8AC3E}">
        <p14:creationId xmlns:p14="http://schemas.microsoft.com/office/powerpoint/2010/main" val="3080325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29E3-FB8A-319C-D527-D9185677563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7D0565-7E04-3B83-0350-4DCF1AF6C4CC}"/>
              </a:ext>
            </a:extLst>
          </p:cNvPr>
          <p:cNvSpPr txBox="1">
            <a:spLocks noGrp="1"/>
          </p:cNvSpPr>
          <p:nvPr>
            <p:ph type="title"/>
          </p:nvPr>
        </p:nvSpPr>
        <p:spPr>
          <a:xfrm>
            <a:off x="1947751" y="173736"/>
            <a:ext cx="4576233" cy="505267"/>
          </a:xfrm>
          <a:prstGeom prst="rect">
            <a:avLst/>
          </a:prstGeom>
        </p:spPr>
        <p:txBody>
          <a:bodyPr vert="horz" wrap="square" lIns="0" tIns="12700" rIns="0" bIns="0" rtlCol="0">
            <a:spAutoFit/>
          </a:bodyPr>
          <a:lstStyle/>
          <a:p>
            <a:pPr marL="12700">
              <a:spcBef>
                <a:spcPts val="100"/>
              </a:spcBef>
            </a:pPr>
            <a:r>
              <a:rPr lang="en-GB" sz="3200" spc="-25" dirty="0"/>
              <a:t>UPPAL Simulation</a:t>
            </a:r>
            <a:endParaRPr spc="-25" dirty="0"/>
          </a:p>
        </p:txBody>
      </p:sp>
      <p:sp>
        <p:nvSpPr>
          <p:cNvPr id="7" name="Footer Placeholder 6">
            <a:extLst>
              <a:ext uri="{FF2B5EF4-FFF2-40B4-BE49-F238E27FC236}">
                <a16:creationId xmlns:a16="http://schemas.microsoft.com/office/drawing/2014/main" id="{AFA36804-5DCA-24B2-A605-818B4EAC1793}"/>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F64D228B-9438-7EC5-BE3A-B3F18D5BF7DF}"/>
              </a:ext>
            </a:extLst>
          </p:cNvPr>
          <p:cNvSpPr>
            <a:spLocks noGrp="1"/>
          </p:cNvSpPr>
          <p:nvPr>
            <p:ph type="sldNum" sz="quarter" idx="7"/>
          </p:nvPr>
        </p:nvSpPr>
        <p:spPr/>
        <p:txBody>
          <a:bodyPr/>
          <a:lstStyle/>
          <a:p>
            <a:pPr marL="12700">
              <a:spcBef>
                <a:spcPts val="30"/>
              </a:spcBef>
            </a:pPr>
            <a:r>
              <a:rPr lang="en-GB" dirty="0"/>
              <a:t>20</a:t>
            </a:r>
            <a:r>
              <a:rPr lang="en-DE" dirty="0"/>
              <a:t>.</a:t>
            </a:r>
            <a:r>
              <a:rPr lang="en-GB" dirty="0"/>
              <a:t>06</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9</a:t>
            </a:fld>
            <a:r>
              <a:rPr spc="-15" dirty="0"/>
              <a:t> </a:t>
            </a:r>
            <a:r>
              <a:rPr spc="-50" dirty="0"/>
              <a:t>&gt;</a:t>
            </a:r>
          </a:p>
        </p:txBody>
      </p:sp>
      <p:pic>
        <p:nvPicPr>
          <p:cNvPr id="3" name="RTS_Uppaal">
            <a:hlinkClick r:id="" action="ppaction://media"/>
            <a:extLst>
              <a:ext uri="{FF2B5EF4-FFF2-40B4-BE49-F238E27FC236}">
                <a16:creationId xmlns:a16="http://schemas.microsoft.com/office/drawing/2014/main" id="{49F13151-EB1B-B2BB-247E-5B2306617BB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8222" y="914400"/>
            <a:ext cx="12210222" cy="5486400"/>
          </a:xfrm>
          <a:prstGeom prst="rect">
            <a:avLst/>
          </a:prstGeom>
        </p:spPr>
      </p:pic>
    </p:spTree>
    <p:extLst>
      <p:ext uri="{BB962C8B-B14F-4D97-AF65-F5344CB8AC3E}">
        <p14:creationId xmlns:p14="http://schemas.microsoft.com/office/powerpoint/2010/main" val="3371309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08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B9610-C08F-9F8D-7CB1-B0D0A223FAD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44361D5-A383-9F3A-DB61-F9BF1F88AF68}"/>
              </a:ext>
            </a:extLst>
          </p:cNvPr>
          <p:cNvSpPr txBox="1">
            <a:spLocks noGrp="1"/>
          </p:cNvSpPr>
          <p:nvPr>
            <p:ph type="title"/>
          </p:nvPr>
        </p:nvSpPr>
        <p:spPr>
          <a:xfrm>
            <a:off x="1947751" y="173736"/>
            <a:ext cx="4576233" cy="505267"/>
          </a:xfrm>
          <a:prstGeom prst="rect">
            <a:avLst/>
          </a:prstGeom>
        </p:spPr>
        <p:txBody>
          <a:bodyPr vert="horz" wrap="square" lIns="0" tIns="12700" rIns="0" bIns="0" rtlCol="0">
            <a:spAutoFit/>
          </a:bodyPr>
          <a:lstStyle/>
          <a:p>
            <a:pPr marL="12700">
              <a:spcBef>
                <a:spcPts val="100"/>
              </a:spcBef>
            </a:pPr>
            <a:r>
              <a:rPr lang="en-GB" sz="3200" dirty="0"/>
              <a:t>REFERENCES</a:t>
            </a:r>
            <a:endParaRPr spc="-25" dirty="0"/>
          </a:p>
        </p:txBody>
      </p:sp>
      <p:sp>
        <p:nvSpPr>
          <p:cNvPr id="7" name="Footer Placeholder 6">
            <a:extLst>
              <a:ext uri="{FF2B5EF4-FFF2-40B4-BE49-F238E27FC236}">
                <a16:creationId xmlns:a16="http://schemas.microsoft.com/office/drawing/2014/main" id="{C11E3A38-A8F2-7477-F888-C84691C81DC5}"/>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FF6B408D-533A-324B-5A2B-BF72D8CD4BDD}"/>
              </a:ext>
            </a:extLst>
          </p:cNvPr>
          <p:cNvSpPr>
            <a:spLocks noGrp="1"/>
          </p:cNvSpPr>
          <p:nvPr>
            <p:ph type="sldNum" sz="quarter" idx="7"/>
          </p:nvPr>
        </p:nvSpPr>
        <p:spPr/>
        <p:txBody>
          <a:bodyPr/>
          <a:lstStyle/>
          <a:p>
            <a:pPr marL="12700">
              <a:spcBef>
                <a:spcPts val="30"/>
              </a:spcBef>
            </a:pPr>
            <a:r>
              <a:rPr lang="en-GB" dirty="0"/>
              <a:t>20</a:t>
            </a:r>
            <a:r>
              <a:rPr lang="en-DE" dirty="0"/>
              <a:t>.</a:t>
            </a:r>
            <a:r>
              <a:rPr lang="en-GB" dirty="0"/>
              <a:t>06</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10</a:t>
            </a:fld>
            <a:r>
              <a:rPr spc="-15" dirty="0"/>
              <a:t> </a:t>
            </a:r>
            <a:r>
              <a:rPr spc="-50" dirty="0"/>
              <a:t>&gt;</a:t>
            </a:r>
          </a:p>
        </p:txBody>
      </p:sp>
      <p:sp>
        <p:nvSpPr>
          <p:cNvPr id="6" name="Google Shape;637;p34">
            <a:extLst>
              <a:ext uri="{FF2B5EF4-FFF2-40B4-BE49-F238E27FC236}">
                <a16:creationId xmlns:a16="http://schemas.microsoft.com/office/drawing/2014/main" id="{DE1138F9-183C-9481-4130-107FA77F0EE1}"/>
              </a:ext>
            </a:extLst>
          </p:cNvPr>
          <p:cNvSpPr txBox="1"/>
          <p:nvPr/>
        </p:nvSpPr>
        <p:spPr>
          <a:xfrm>
            <a:off x="258296" y="658368"/>
            <a:ext cx="11304189" cy="5541264"/>
          </a:xfrm>
          <a:prstGeom prst="rect">
            <a:avLst/>
          </a:prstGeom>
          <a:noFill/>
          <a:ln>
            <a:noFill/>
          </a:ln>
        </p:spPr>
        <p:txBody>
          <a:bodyPr spcFirstLastPara="1" wrap="square" lIns="121900" tIns="121900" rIns="121900" bIns="121900" anchor="ctr" anchorCtr="0">
            <a:noAutofit/>
          </a:bodyPr>
          <a:lstStyle/>
          <a:p>
            <a:pPr defTabSz="1219170">
              <a:lnSpc>
                <a:spcPct val="150000"/>
              </a:lnSpc>
              <a:buClr>
                <a:srgbClr val="000000"/>
              </a:buClr>
            </a:pPr>
            <a:r>
              <a:rPr lang="en-GB" sz="1600" b="0" i="0" dirty="0">
                <a:effectLst/>
                <a:highlight>
                  <a:srgbClr val="FFFFFF"/>
                </a:highlight>
                <a:latin typeface="Arial" panose="020B0604020202020204" pitchFamily="34" charset="0"/>
                <a:cs typeface="Arial" panose="020B0604020202020204" pitchFamily="34" charset="0"/>
              </a:rPr>
              <a:t>1. BUTTAZZO, Giorgio C., ed. Hard real-time computing systems: Predictable scheduling</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    </a:t>
            </a:r>
            <a:r>
              <a:rPr lang="en-GB" sz="1600" b="0" i="0" dirty="0">
                <a:effectLst/>
                <a:highlight>
                  <a:srgbClr val="FFFFFF"/>
                </a:highlight>
                <a:latin typeface="Arial" panose="020B0604020202020204" pitchFamily="34" charset="0"/>
                <a:cs typeface="Arial" panose="020B0604020202020204" pitchFamily="34" charset="0"/>
              </a:rPr>
              <a:t>algorithms and applications. Real-time systems. Kluwer Academic Publishers, Boston and</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    </a:t>
            </a:r>
            <a:r>
              <a:rPr lang="en-GB" sz="1600" b="0" i="0" dirty="0">
                <a:effectLst/>
                <a:highlight>
                  <a:srgbClr val="FFFFFF"/>
                </a:highlight>
                <a:latin typeface="Arial" panose="020B0604020202020204" pitchFamily="34" charset="0"/>
                <a:cs typeface="Arial" panose="020B0604020202020204" pitchFamily="34" charset="0"/>
              </a:rPr>
              <a:t>Dordrecht and London, 1997.</a:t>
            </a:r>
          </a:p>
          <a:p>
            <a:pPr marL="342900" indent="-342900" defTabSz="1219170">
              <a:lnSpc>
                <a:spcPct val="150000"/>
              </a:lnSpc>
              <a:buClr>
                <a:srgbClr val="000000"/>
              </a:buClr>
              <a:buAutoNum type="arabicPeriod"/>
            </a:pPr>
            <a:endParaRPr lang="en-GB" sz="1600" kern="0" dirty="0">
              <a:solidFill>
                <a:schemeClr val="tx1"/>
              </a:solidFill>
              <a:latin typeface="Arial" panose="020B0604020202020204" pitchFamily="34" charset="0"/>
              <a:ea typeface="Fira Code"/>
              <a:cs typeface="Arial" panose="020B0604020202020204" pitchFamily="34" charset="0"/>
              <a:sym typeface="Fira Code"/>
            </a:endParaRPr>
          </a:p>
          <a:p>
            <a:pPr defTabSz="1219170">
              <a:lnSpc>
                <a:spcPct val="150000"/>
              </a:lnSpc>
              <a:buClr>
                <a:srgbClr val="000000"/>
              </a:buClr>
            </a:pPr>
            <a:r>
              <a:rPr lang="en-GB" sz="1600" kern="0" dirty="0">
                <a:solidFill>
                  <a:schemeClr val="tx1"/>
                </a:solidFill>
                <a:latin typeface="Arial" panose="020B0604020202020204" pitchFamily="34" charset="0"/>
                <a:ea typeface="Fira Code"/>
                <a:cs typeface="Arial" panose="020B0604020202020204" pitchFamily="34" charset="0"/>
                <a:sym typeface="Fira Code"/>
              </a:rPr>
              <a:t>2</a:t>
            </a:r>
            <a:r>
              <a:rPr lang="en-GB" sz="1600" dirty="0">
                <a:solidFill>
                  <a:schemeClr val="tx1"/>
                </a:solidFill>
                <a:latin typeface="Arial" panose="020B0604020202020204" pitchFamily="34" charset="0"/>
                <a:ea typeface="Fira Code"/>
                <a:cs typeface="Arial" panose="020B0604020202020204" pitchFamily="34" charset="0"/>
                <a:sym typeface="Fira Code"/>
              </a:rPr>
              <a:t>. </a:t>
            </a:r>
            <a:r>
              <a:rPr lang="en-GB" sz="1600" b="0" i="0" dirty="0">
                <a:solidFill>
                  <a:srgbClr val="2E414F"/>
                </a:solidFill>
                <a:effectLst/>
                <a:highlight>
                  <a:srgbClr val="FFFFFF"/>
                </a:highlight>
                <a:latin typeface="Arial" panose="020B0604020202020204" pitchFamily="34" charset="0"/>
                <a:cs typeface="Arial" panose="020B0604020202020204" pitchFamily="34" charset="0"/>
              </a:rPr>
              <a:t>Pathan, R.M. (2012). Report for the Seminar Series on Software Failures Mars Pathfinder: Priority Inversion Problem.</a:t>
            </a:r>
          </a:p>
          <a:p>
            <a:pPr defTabSz="1219170">
              <a:lnSpc>
                <a:spcPct val="150000"/>
              </a:lnSpc>
              <a:buClr>
                <a:srgbClr val="000000"/>
              </a:buClr>
            </a:pPr>
            <a:endParaRPr lang="en-GB" sz="1600" kern="0" dirty="0">
              <a:solidFill>
                <a:schemeClr val="tx1"/>
              </a:solidFill>
              <a:latin typeface="Arial" panose="020B0604020202020204" pitchFamily="34" charset="0"/>
              <a:ea typeface="Fira Code"/>
              <a:cs typeface="Arial" panose="020B0604020202020204" pitchFamily="34" charset="0"/>
              <a:sym typeface="Fira Code"/>
            </a:endParaRPr>
          </a:p>
          <a:p>
            <a:pPr defTabSz="1219170">
              <a:lnSpc>
                <a:spcPct val="150000"/>
              </a:lnSpc>
              <a:buClr>
                <a:srgbClr val="000000"/>
              </a:buClr>
            </a:pPr>
            <a:r>
              <a:rPr lang="en-GB" sz="1600" kern="0" dirty="0">
                <a:solidFill>
                  <a:schemeClr val="tx1"/>
                </a:solidFill>
                <a:latin typeface="Arial" panose="020B0604020202020204" pitchFamily="34" charset="0"/>
                <a:ea typeface="Fira Code"/>
                <a:cs typeface="Arial" panose="020B0604020202020204" pitchFamily="34" charset="0"/>
                <a:sym typeface="Fira Code"/>
              </a:rPr>
              <a:t>3. Prof. </a:t>
            </a:r>
            <a:r>
              <a:rPr lang="en-GB" sz="1600" kern="0" dirty="0" err="1">
                <a:solidFill>
                  <a:schemeClr val="tx1"/>
                </a:solidFill>
                <a:latin typeface="Arial" panose="020B0604020202020204" pitchFamily="34" charset="0"/>
                <a:ea typeface="Fira Code"/>
                <a:cs typeface="Arial" panose="020B0604020202020204" pitchFamily="34" charset="0"/>
                <a:sym typeface="Fira Code"/>
              </a:rPr>
              <a:t>Dr.</a:t>
            </a:r>
            <a:r>
              <a:rPr lang="en-GB" sz="1600" kern="0" dirty="0">
                <a:solidFill>
                  <a:schemeClr val="tx1"/>
                </a:solidFill>
                <a:latin typeface="Arial" panose="020B0604020202020204" pitchFamily="34" charset="0"/>
                <a:ea typeface="Fira Code"/>
                <a:cs typeface="Arial" panose="020B0604020202020204" pitchFamily="34" charset="0"/>
                <a:sym typeface="Fira Code"/>
              </a:rPr>
              <a:t> Jian-Jia Chen(2016),Resource Access Protocols, LS 12, TU Dortmund.</a:t>
            </a:r>
          </a:p>
          <a:p>
            <a:pPr defTabSz="1219170">
              <a:lnSpc>
                <a:spcPct val="150000"/>
              </a:lnSpc>
              <a:buClr>
                <a:srgbClr val="000000"/>
              </a:buClr>
            </a:pPr>
            <a:endParaRPr lang="en-GB" sz="1600" kern="0" dirty="0">
              <a:solidFill>
                <a:schemeClr val="tx1"/>
              </a:solidFill>
              <a:latin typeface="Arial" panose="020B0604020202020204" pitchFamily="34" charset="0"/>
              <a:ea typeface="Fira Code"/>
              <a:cs typeface="Arial" panose="020B0604020202020204" pitchFamily="34" charset="0"/>
              <a:sym typeface="Fira Code"/>
            </a:endParaRPr>
          </a:p>
          <a:p>
            <a:r>
              <a:rPr lang="en-GB" sz="1600" kern="0" dirty="0">
                <a:solidFill>
                  <a:schemeClr val="tx1"/>
                </a:solidFill>
                <a:latin typeface="Arial" panose="020B0604020202020204" pitchFamily="34" charset="0"/>
                <a:ea typeface="Fira Code"/>
                <a:cs typeface="Arial" panose="020B0604020202020204" pitchFamily="34" charset="0"/>
                <a:sym typeface="Fira Code"/>
              </a:rPr>
              <a:t>4. </a:t>
            </a:r>
            <a:r>
              <a:rPr lang="en-GB" sz="1800" dirty="0">
                <a:solidFill>
                  <a:srgbClr val="000000"/>
                </a:solidFill>
                <a:effectLst/>
                <a:latin typeface="Arial" panose="020B0604020202020204" pitchFamily="34" charset="0"/>
                <a:cs typeface="Arial" panose="020B0604020202020204" pitchFamily="34" charset="0"/>
              </a:rPr>
              <a:t>Mike Jones, email- Subject: What really happened on Mars?, Sunday, December 07, 1997. </a:t>
            </a:r>
            <a:endParaRPr lang="en-GB" sz="1600" dirty="0">
              <a:latin typeface="Arial" panose="020B0604020202020204" pitchFamily="34" charset="0"/>
              <a:cs typeface="Arial" panose="020B0604020202020204" pitchFamily="34" charset="0"/>
            </a:endParaRPr>
          </a:p>
          <a:p>
            <a:r>
              <a:rPr lang="en-GB" sz="1800" dirty="0">
                <a:solidFill>
                  <a:srgbClr val="0000FF"/>
                </a:solidFill>
                <a:effectLst/>
                <a:latin typeface="Cambria" panose="02040503050406030204" pitchFamily="18" charset="0"/>
              </a:rPr>
              <a:t>     http://research.microsoft.com/en-us/um/people/mbj/mars_pathfinder/Mars_Pathfinder.html</a:t>
            </a:r>
            <a:endParaRPr lang="en-GB" sz="1600" kern="0" dirty="0">
              <a:solidFill>
                <a:schemeClr val="tx1"/>
              </a:solidFill>
              <a:latin typeface="Fira Code"/>
              <a:ea typeface="Fira Code"/>
              <a:cs typeface="Fira Code"/>
              <a:sym typeface="Fira Code"/>
            </a:endParaRPr>
          </a:p>
        </p:txBody>
      </p:sp>
    </p:spTree>
    <p:extLst>
      <p:ext uri="{BB962C8B-B14F-4D97-AF65-F5344CB8AC3E}">
        <p14:creationId xmlns:p14="http://schemas.microsoft.com/office/powerpoint/2010/main" val="2737176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197D"/>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3879</TotalTime>
  <Words>587</Words>
  <Application>Microsoft Office PowerPoint</Application>
  <PresentationFormat>Widescreen</PresentationFormat>
  <Paragraphs>79</Paragraphs>
  <Slides>10</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Arial MT</vt:lpstr>
      <vt:lpstr>Calibri</vt:lpstr>
      <vt:lpstr>Cambria</vt:lpstr>
      <vt:lpstr>Fira Code</vt:lpstr>
      <vt:lpstr>Impact</vt:lpstr>
      <vt:lpstr>Office Theme</vt:lpstr>
      <vt:lpstr>PowerPoint Presentation</vt:lpstr>
      <vt:lpstr>Motivation</vt:lpstr>
      <vt:lpstr>Resource Access Protocol</vt:lpstr>
      <vt:lpstr>Autonomous Traffic Control</vt:lpstr>
      <vt:lpstr>Priority Inversion Problem</vt:lpstr>
      <vt:lpstr>Priority inheritance protocol.</vt:lpstr>
      <vt:lpstr>PowerPoint Presentation</vt:lpstr>
      <vt:lpstr>UPPAL Simulation</vt:lpstr>
      <vt:lpstr>UPPAL Simulation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Abdullah Al Forkan</dc:creator>
  <cp:lastModifiedBy>AbdullahAl Forkan</cp:lastModifiedBy>
  <cp:revision>25</cp:revision>
  <dcterms:created xsi:type="dcterms:W3CDTF">2024-02-05T23:59:14Z</dcterms:created>
  <dcterms:modified xsi:type="dcterms:W3CDTF">2024-07-23T07:53:14Z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2023-10-09T00:00:00Z</vt:filetime>
  </property>
  <property fmtid="{D5CDD505-2E9C-101B-9397-08002B2CF9AE}" pid="3" name="LastSaved">
    <vt:filetime>2024-02-05T00:00:00Z</vt:filetime>
  </property>
  <property fmtid="{D5CDD505-2E9C-101B-9397-08002B2CF9AE}" pid="4" name="Producer">
    <vt:lpwstr>macOS Version 13.6 (Build 22G120) Quartz PDFContext</vt:lpwstr>
  </property>
</Properties>
</file>